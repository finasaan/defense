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</p:sldIdLst>
  <p:sldSz cx="18288000" cy="10287000"/>
  <p:notesSz cx="6858000" cy="9144000"/>
  <p:embeddedFontLst>
    <p:embeddedFont>
      <p:font typeface="Public Sans Bold" charset="1" panose="00000000000000000000"/>
      <p:regular r:id="rId23"/>
    </p:embeddedFont>
    <p:embeddedFont>
      <p:font typeface="Public Sans" charset="1" panose="00000000000000000000"/>
      <p:regular r:id="rId24"/>
    </p:embeddedFont>
    <p:embeddedFont>
      <p:font typeface="Public Sans Medium" charset="1" panose="00000000000000000000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Relationship Id="rId4" Target="../media/image6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Relationship Id="rId4" Target="../media/image8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Relationship Id="rId3" Target="../media/image11.svg" Type="http://schemas.openxmlformats.org/officeDocument/2006/relationships/image"/><Relationship Id="rId4" Target="../media/image12.png" Type="http://schemas.openxmlformats.org/officeDocument/2006/relationships/image"/><Relationship Id="rId5" Target="../media/image13.svg" Type="http://schemas.openxmlformats.org/officeDocument/2006/relationships/image"/><Relationship Id="rId6" Target="../media/image14.png" Type="http://schemas.openxmlformats.org/officeDocument/2006/relationships/image"/><Relationship Id="rId7" Target="../media/image15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5.svg" Type="http://schemas.openxmlformats.org/officeDocument/2006/relationships/image"/><Relationship Id="rId11" Target="../media/image26.png" Type="http://schemas.openxmlformats.org/officeDocument/2006/relationships/image"/><Relationship Id="rId12" Target="../media/image27.png" Type="http://schemas.openxmlformats.org/officeDocument/2006/relationships/image"/><Relationship Id="rId2" Target="../media/image17.png" Type="http://schemas.openxmlformats.org/officeDocument/2006/relationships/image"/><Relationship Id="rId3" Target="../media/image18.svg" Type="http://schemas.openxmlformats.org/officeDocument/2006/relationships/image"/><Relationship Id="rId4" Target="../media/image19.jpeg" Type="http://schemas.openxmlformats.org/officeDocument/2006/relationships/image"/><Relationship Id="rId5" Target="../media/image20.png" Type="http://schemas.openxmlformats.org/officeDocument/2006/relationships/image"/><Relationship Id="rId6" Target="../media/image21.svg" Type="http://schemas.openxmlformats.org/officeDocument/2006/relationships/image"/><Relationship Id="rId7" Target="../media/image22.png" Type="http://schemas.openxmlformats.org/officeDocument/2006/relationships/image"/><Relationship Id="rId8" Target="../media/image23.png" Type="http://schemas.openxmlformats.org/officeDocument/2006/relationships/image"/><Relationship Id="rId9" Target="../media/image24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8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0.png" Type="http://schemas.openxmlformats.org/officeDocument/2006/relationships/image"/><Relationship Id="rId3" Target="../media/image31.sv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2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1F1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733924" y="6971250"/>
            <a:ext cx="21755848" cy="4174349"/>
            <a:chOff x="0" y="0"/>
            <a:chExt cx="7796805" cy="149599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796805" cy="1495993"/>
            </a:xfrm>
            <a:custGeom>
              <a:avLst/>
              <a:gdLst/>
              <a:ahLst/>
              <a:cxnLst/>
              <a:rect r="r" b="b" t="t" l="l"/>
              <a:pathLst>
                <a:path h="1495993" w="7796805">
                  <a:moveTo>
                    <a:pt x="0" y="0"/>
                  </a:moveTo>
                  <a:lnTo>
                    <a:pt x="7796805" y="0"/>
                  </a:lnTo>
                  <a:lnTo>
                    <a:pt x="7796805" y="1495993"/>
                  </a:lnTo>
                  <a:lnTo>
                    <a:pt x="0" y="1495993"/>
                  </a:lnTo>
                  <a:close/>
                </a:path>
              </a:pathLst>
            </a:custGeom>
            <a:solidFill>
              <a:srgbClr val="006F53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28575"/>
              <a:ext cx="7796805" cy="152456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-908245" y="5376693"/>
            <a:ext cx="20104489" cy="5523017"/>
          </a:xfrm>
          <a:custGeom>
            <a:avLst/>
            <a:gdLst/>
            <a:ahLst/>
            <a:cxnLst/>
            <a:rect r="r" b="b" t="t" l="l"/>
            <a:pathLst>
              <a:path h="5523017" w="20104489">
                <a:moveTo>
                  <a:pt x="0" y="0"/>
                </a:moveTo>
                <a:lnTo>
                  <a:pt x="20104490" y="0"/>
                </a:lnTo>
                <a:lnTo>
                  <a:pt x="20104490" y="5523017"/>
                </a:lnTo>
                <a:lnTo>
                  <a:pt x="0" y="552301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44363" r="-9035" b="-20568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3908781" y="1437231"/>
            <a:ext cx="10470437" cy="17069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661"/>
              </a:lnSpc>
            </a:pPr>
            <a:r>
              <a:rPr lang="en-US" b="true" sz="13188" spc="-1081">
                <a:solidFill>
                  <a:srgbClr val="000000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Fin</a:t>
            </a:r>
            <a:r>
              <a:rPr lang="en-US" b="true" sz="13188" spc="-1081">
                <a:solidFill>
                  <a:srgbClr val="006F53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asaan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583687" y="4449697"/>
            <a:ext cx="13120627" cy="4920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358"/>
              </a:lnSpc>
              <a:spcBef>
                <a:spcPct val="0"/>
              </a:spcBef>
            </a:pPr>
            <a:r>
              <a:rPr lang="en-US" sz="4361" spc="-357">
                <a:solidFill>
                  <a:srgbClr val="3A855D"/>
                </a:solidFill>
                <a:latin typeface="Public Sans"/>
                <a:ea typeface="Public Sans"/>
                <a:cs typeface="Public Sans"/>
                <a:sym typeface="Public Sans"/>
              </a:rPr>
              <a:t>Asaan Finance - For Everyone.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16914402" y="3224371"/>
            <a:ext cx="1703043" cy="2771224"/>
          </a:xfrm>
          <a:custGeom>
            <a:avLst/>
            <a:gdLst/>
            <a:ahLst/>
            <a:cxnLst/>
            <a:rect r="r" b="b" t="t" l="l"/>
            <a:pathLst>
              <a:path h="2771224" w="1703043">
                <a:moveTo>
                  <a:pt x="0" y="0"/>
                </a:moveTo>
                <a:lnTo>
                  <a:pt x="1703043" y="0"/>
                </a:lnTo>
                <a:lnTo>
                  <a:pt x="1703043" y="2771224"/>
                </a:lnTo>
                <a:lnTo>
                  <a:pt x="0" y="277122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7392287">
            <a:off x="-1104276" y="-395603"/>
            <a:ext cx="3383874" cy="2848607"/>
          </a:xfrm>
          <a:custGeom>
            <a:avLst/>
            <a:gdLst/>
            <a:ahLst/>
            <a:cxnLst/>
            <a:rect r="r" b="b" t="t" l="l"/>
            <a:pathLst>
              <a:path h="2848607" w="3383874">
                <a:moveTo>
                  <a:pt x="0" y="0"/>
                </a:moveTo>
                <a:lnTo>
                  <a:pt x="3383875" y="0"/>
                </a:lnTo>
                <a:lnTo>
                  <a:pt x="3383875" y="2848606"/>
                </a:lnTo>
                <a:lnTo>
                  <a:pt x="0" y="284860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F1F1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4816593" cy="27093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16592" cy="2709333"/>
            </a:xfrm>
            <a:custGeom>
              <a:avLst/>
              <a:gdLst/>
              <a:ahLst/>
              <a:cxnLst/>
              <a:rect r="r" b="b" t="t" l="l"/>
              <a:pathLst>
                <a:path h="2709333" w="4816592">
                  <a:moveTo>
                    <a:pt x="6350" y="0"/>
                  </a:moveTo>
                  <a:lnTo>
                    <a:pt x="4810242" y="0"/>
                  </a:lnTo>
                  <a:cubicBezTo>
                    <a:pt x="4811926" y="0"/>
                    <a:pt x="4813542" y="669"/>
                    <a:pt x="4814732" y="1860"/>
                  </a:cubicBezTo>
                  <a:cubicBezTo>
                    <a:pt x="4815923" y="3051"/>
                    <a:pt x="4816592" y="4666"/>
                    <a:pt x="4816592" y="6350"/>
                  </a:cubicBezTo>
                  <a:lnTo>
                    <a:pt x="4816592" y="2702983"/>
                  </a:lnTo>
                  <a:cubicBezTo>
                    <a:pt x="4816592" y="2706490"/>
                    <a:pt x="4813750" y="2709333"/>
                    <a:pt x="4810242" y="2709333"/>
                  </a:cubicBezTo>
                  <a:lnTo>
                    <a:pt x="6350" y="2709333"/>
                  </a:lnTo>
                  <a:cubicBezTo>
                    <a:pt x="2843" y="2709333"/>
                    <a:pt x="0" y="2706490"/>
                    <a:pt x="0" y="2702983"/>
                  </a:cubicBezTo>
                  <a:lnTo>
                    <a:pt x="0" y="6350"/>
                  </a:lnTo>
                  <a:cubicBezTo>
                    <a:pt x="0" y="2843"/>
                    <a:pt x="2843" y="0"/>
                    <a:pt x="6350" y="0"/>
                  </a:cubicBezTo>
                  <a:close/>
                </a:path>
              </a:pathLst>
            </a:custGeom>
            <a:solidFill>
              <a:srgbClr val="006F53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85725"/>
              <a:ext cx="4816593" cy="26236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25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3820887" y="1219200"/>
            <a:ext cx="10627176" cy="10972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159"/>
              </a:lnSpc>
            </a:pPr>
            <a:r>
              <a:rPr lang="en-US" b="true" sz="8499" spc="-42">
                <a:solidFill>
                  <a:srgbClr val="F1F0E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The Team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4158204" y="2628027"/>
            <a:ext cx="9952542" cy="29997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66"/>
              </a:lnSpc>
            </a:pPr>
            <a:r>
              <a:rPr lang="en-US" b="true" sz="3530" spc="211">
                <a:solidFill>
                  <a:srgbClr val="F1F0E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Product leads:</a:t>
            </a:r>
          </a:p>
          <a:p>
            <a:pPr algn="ctr">
              <a:lnSpc>
                <a:spcPts val="4766"/>
              </a:lnSpc>
            </a:pPr>
          </a:p>
          <a:p>
            <a:pPr algn="ctr">
              <a:lnSpc>
                <a:spcPts val="4766"/>
              </a:lnSpc>
            </a:pPr>
            <a:r>
              <a:rPr lang="en-US" b="true" sz="3530" spc="211">
                <a:solidFill>
                  <a:srgbClr val="F1F0EC"/>
                </a:solidFill>
                <a:latin typeface="Public Sans Medium"/>
                <a:ea typeface="Public Sans Medium"/>
                <a:cs typeface="Public Sans Medium"/>
                <a:sym typeface="Public Sans Medium"/>
              </a:rPr>
              <a:t>Muhammad Hadi Khan - 403388</a:t>
            </a:r>
          </a:p>
          <a:p>
            <a:pPr algn="ctr">
              <a:lnSpc>
                <a:spcPts val="4766"/>
              </a:lnSpc>
            </a:pPr>
            <a:r>
              <a:rPr lang="en-US" b="true" sz="3530" spc="211">
                <a:solidFill>
                  <a:srgbClr val="F1F0EC"/>
                </a:solidFill>
                <a:latin typeface="Public Sans Medium"/>
                <a:ea typeface="Public Sans Medium"/>
                <a:cs typeface="Public Sans Medium"/>
                <a:sym typeface="Public Sans Medium"/>
              </a:rPr>
              <a:t>Muhammad Muzamil Kaleem - 415432</a:t>
            </a:r>
          </a:p>
          <a:p>
            <a:pPr algn="ctr">
              <a:lnSpc>
                <a:spcPts val="4766"/>
              </a:lnSpc>
              <a:spcBef>
                <a:spcPct val="0"/>
              </a:spcBef>
            </a:pPr>
            <a:r>
              <a:rPr lang="en-US" b="true" sz="3530" spc="211">
                <a:solidFill>
                  <a:srgbClr val="F1F0EC"/>
                </a:solidFill>
                <a:latin typeface="Public Sans Medium"/>
                <a:ea typeface="Public Sans Medium"/>
                <a:cs typeface="Public Sans Medium"/>
                <a:sym typeface="Public Sans Medium"/>
              </a:rPr>
              <a:t>Syed Aman Hussain - 415432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77586" y="6752352"/>
            <a:ext cx="8456889" cy="2057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50"/>
              </a:lnSpc>
            </a:pPr>
            <a:r>
              <a:rPr lang="en-US" sz="3000" spc="179" b="true">
                <a:solidFill>
                  <a:srgbClr val="F1F0E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Advisory board: </a:t>
            </a:r>
          </a:p>
          <a:p>
            <a:pPr algn="l">
              <a:lnSpc>
                <a:spcPts val="4050"/>
              </a:lnSpc>
            </a:pPr>
          </a:p>
          <a:p>
            <a:pPr algn="l">
              <a:lnSpc>
                <a:spcPts val="4050"/>
              </a:lnSpc>
            </a:pPr>
            <a:r>
              <a:rPr lang="en-US" sz="3000" spc="179" b="true">
                <a:solidFill>
                  <a:srgbClr val="F1F0E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Advisor:</a:t>
            </a:r>
            <a:r>
              <a:rPr lang="en-US" sz="3000" spc="179">
                <a:solidFill>
                  <a:srgbClr val="F1F0EC"/>
                </a:solidFill>
                <a:latin typeface="Public Sans"/>
                <a:ea typeface="Public Sans"/>
                <a:cs typeface="Public Sans"/>
                <a:sym typeface="Public Sans"/>
              </a:rPr>
              <a:t> Dr. Farzana Jabeen</a:t>
            </a:r>
          </a:p>
          <a:p>
            <a:pPr algn="l">
              <a:lnSpc>
                <a:spcPts val="4050"/>
              </a:lnSpc>
              <a:spcBef>
                <a:spcPct val="0"/>
              </a:spcBef>
            </a:pPr>
            <a:r>
              <a:rPr lang="en-US" b="true" sz="3000" spc="179">
                <a:solidFill>
                  <a:srgbClr val="F1F0E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Co-advisor: </a:t>
            </a:r>
            <a:r>
              <a:rPr lang="en-US" sz="3000" spc="179">
                <a:solidFill>
                  <a:srgbClr val="F1F0EC"/>
                </a:solidFill>
                <a:latin typeface="Public Sans"/>
                <a:ea typeface="Public Sans"/>
                <a:cs typeface="Public Sans"/>
                <a:sym typeface="Public Sans"/>
              </a:rPr>
              <a:t>Huzaifa Sarfaraz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538812" y="6752352"/>
            <a:ext cx="8456889" cy="2057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50"/>
              </a:lnSpc>
            </a:pPr>
            <a:r>
              <a:rPr lang="en-US" sz="3000" spc="179" b="true">
                <a:solidFill>
                  <a:srgbClr val="F1F0E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Committee members: </a:t>
            </a:r>
          </a:p>
          <a:p>
            <a:pPr algn="l">
              <a:lnSpc>
                <a:spcPts val="4050"/>
              </a:lnSpc>
            </a:pPr>
          </a:p>
          <a:p>
            <a:pPr algn="l" marL="647700" indent="-323850" lvl="1">
              <a:lnSpc>
                <a:spcPts val="4050"/>
              </a:lnSpc>
              <a:buFont typeface="Arial"/>
              <a:buChar char="•"/>
            </a:pPr>
            <a:r>
              <a:rPr lang="en-US" sz="3000" spc="179">
                <a:solidFill>
                  <a:srgbClr val="F1F0EC"/>
                </a:solidFill>
                <a:latin typeface="Public Sans"/>
                <a:ea typeface="Public Sans"/>
                <a:cs typeface="Public Sans"/>
                <a:sym typeface="Public Sans"/>
              </a:rPr>
              <a:t>Dr. Aimal Rextin</a:t>
            </a:r>
          </a:p>
          <a:p>
            <a:pPr algn="l" marL="647700" indent="-323850" lvl="1">
              <a:lnSpc>
                <a:spcPts val="4050"/>
              </a:lnSpc>
              <a:spcBef>
                <a:spcPct val="0"/>
              </a:spcBef>
              <a:buFont typeface="Arial"/>
              <a:buChar char="•"/>
            </a:pPr>
            <a:r>
              <a:rPr lang="en-US" sz="3000" spc="179">
                <a:solidFill>
                  <a:srgbClr val="F1F0EC"/>
                </a:solidFill>
                <a:latin typeface="Public Sans"/>
                <a:ea typeface="Public Sans"/>
                <a:cs typeface="Public Sans"/>
                <a:sym typeface="Public Sans"/>
              </a:rPr>
              <a:t>Meow meow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F1F1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465074" y="1219200"/>
            <a:ext cx="11357852" cy="21259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159"/>
              </a:lnSpc>
            </a:pPr>
            <a:r>
              <a:rPr lang="en-US" sz="8499" spc="-696">
                <a:solidFill>
                  <a:srgbClr val="3A855D"/>
                </a:solidFill>
                <a:latin typeface="Public Sans"/>
                <a:ea typeface="Public Sans"/>
                <a:cs typeface="Public Sans"/>
                <a:sym typeface="Public Sans"/>
              </a:rPr>
              <a:t>Problem:</a:t>
            </a:r>
          </a:p>
          <a:p>
            <a:pPr algn="ctr">
              <a:lnSpc>
                <a:spcPts val="8159"/>
              </a:lnSpc>
            </a:pPr>
            <a:r>
              <a:rPr lang="en-US" sz="8499" spc="-696">
                <a:solidFill>
                  <a:srgbClr val="3A855D"/>
                </a:solidFill>
                <a:latin typeface="Public Sans"/>
                <a:ea typeface="Public Sans"/>
                <a:cs typeface="Public Sans"/>
                <a:sym typeface="Public Sans"/>
              </a:rPr>
              <a:t>The financial literacy crisis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496682" y="4090873"/>
            <a:ext cx="3936783" cy="4986938"/>
            <a:chOff x="0" y="0"/>
            <a:chExt cx="1102601" cy="1396725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102601" cy="1396725"/>
            </a:xfrm>
            <a:custGeom>
              <a:avLst/>
              <a:gdLst/>
              <a:ahLst/>
              <a:cxnLst/>
              <a:rect r="r" b="b" t="t" l="l"/>
              <a:pathLst>
                <a:path h="1396725" w="1102601">
                  <a:moveTo>
                    <a:pt x="29498" y="0"/>
                  </a:moveTo>
                  <a:lnTo>
                    <a:pt x="1073102" y="0"/>
                  </a:lnTo>
                  <a:cubicBezTo>
                    <a:pt x="1080926" y="0"/>
                    <a:pt x="1088429" y="3108"/>
                    <a:pt x="1093961" y="8640"/>
                  </a:cubicBezTo>
                  <a:cubicBezTo>
                    <a:pt x="1099493" y="14172"/>
                    <a:pt x="1102601" y="21675"/>
                    <a:pt x="1102601" y="29498"/>
                  </a:cubicBezTo>
                  <a:lnTo>
                    <a:pt x="1102601" y="1367226"/>
                  </a:lnTo>
                  <a:cubicBezTo>
                    <a:pt x="1102601" y="1383518"/>
                    <a:pt x="1089394" y="1396725"/>
                    <a:pt x="1073102" y="1396725"/>
                  </a:cubicBezTo>
                  <a:lnTo>
                    <a:pt x="29498" y="1396725"/>
                  </a:lnTo>
                  <a:cubicBezTo>
                    <a:pt x="13207" y="1396725"/>
                    <a:pt x="0" y="1383518"/>
                    <a:pt x="0" y="1367226"/>
                  </a:cubicBezTo>
                  <a:lnTo>
                    <a:pt x="0" y="29498"/>
                  </a:lnTo>
                  <a:cubicBezTo>
                    <a:pt x="0" y="13207"/>
                    <a:pt x="13207" y="0"/>
                    <a:pt x="29498" y="0"/>
                  </a:cubicBezTo>
                  <a:close/>
                </a:path>
              </a:pathLst>
            </a:custGeom>
            <a:solidFill>
              <a:srgbClr val="006F53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85725"/>
              <a:ext cx="1102601" cy="13110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25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66691" y="4628859"/>
            <a:ext cx="2596765" cy="657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00"/>
              </a:lnSpc>
            </a:pPr>
            <a:r>
              <a:rPr lang="en-US" b="true" sz="5000" spc="-410">
                <a:solidFill>
                  <a:srgbClr val="F1F0E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Only 21%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747195" y="5889599"/>
            <a:ext cx="3435758" cy="2057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050"/>
              </a:lnSpc>
              <a:spcBef>
                <a:spcPct val="0"/>
              </a:spcBef>
            </a:pPr>
            <a:r>
              <a:rPr lang="en-US" b="true" sz="3000" spc="179">
                <a:solidFill>
                  <a:srgbClr val="F1F0EC"/>
                </a:solidFill>
                <a:latin typeface="Public Sans Medium"/>
                <a:ea typeface="Public Sans Medium"/>
                <a:cs typeface="Public Sans Medium"/>
                <a:sym typeface="Public Sans Medium"/>
              </a:rPr>
              <a:t>Of adults have access  to formal financial services 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7175609" y="4090873"/>
            <a:ext cx="3936783" cy="4986938"/>
            <a:chOff x="0" y="0"/>
            <a:chExt cx="1102601" cy="139672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02601" cy="1396725"/>
            </a:xfrm>
            <a:custGeom>
              <a:avLst/>
              <a:gdLst/>
              <a:ahLst/>
              <a:cxnLst/>
              <a:rect r="r" b="b" t="t" l="l"/>
              <a:pathLst>
                <a:path h="1396725" w="1102601">
                  <a:moveTo>
                    <a:pt x="29498" y="0"/>
                  </a:moveTo>
                  <a:lnTo>
                    <a:pt x="1073102" y="0"/>
                  </a:lnTo>
                  <a:cubicBezTo>
                    <a:pt x="1080926" y="0"/>
                    <a:pt x="1088429" y="3108"/>
                    <a:pt x="1093961" y="8640"/>
                  </a:cubicBezTo>
                  <a:cubicBezTo>
                    <a:pt x="1099493" y="14172"/>
                    <a:pt x="1102601" y="21675"/>
                    <a:pt x="1102601" y="29498"/>
                  </a:cubicBezTo>
                  <a:lnTo>
                    <a:pt x="1102601" y="1367226"/>
                  </a:lnTo>
                  <a:cubicBezTo>
                    <a:pt x="1102601" y="1383518"/>
                    <a:pt x="1089394" y="1396725"/>
                    <a:pt x="1073102" y="1396725"/>
                  </a:cubicBezTo>
                  <a:lnTo>
                    <a:pt x="29498" y="1396725"/>
                  </a:lnTo>
                  <a:cubicBezTo>
                    <a:pt x="13207" y="1396725"/>
                    <a:pt x="0" y="1383518"/>
                    <a:pt x="0" y="1367226"/>
                  </a:cubicBezTo>
                  <a:lnTo>
                    <a:pt x="0" y="29498"/>
                  </a:lnTo>
                  <a:cubicBezTo>
                    <a:pt x="0" y="13207"/>
                    <a:pt x="13207" y="0"/>
                    <a:pt x="29498" y="0"/>
                  </a:cubicBezTo>
                  <a:close/>
                </a:path>
              </a:pathLst>
            </a:custGeom>
            <a:solidFill>
              <a:srgbClr val="006F5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85725"/>
              <a:ext cx="1102601" cy="13110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25"/>
                </a:lnSpc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7426121" y="4628859"/>
            <a:ext cx="3539926" cy="657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00"/>
              </a:lnSpc>
            </a:pPr>
            <a:r>
              <a:rPr lang="en-US" b="true" sz="5000" spc="-410">
                <a:solidFill>
                  <a:srgbClr val="F1F0E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16th out of 26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426121" y="5889599"/>
            <a:ext cx="3435758" cy="2571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050"/>
              </a:lnSpc>
              <a:spcBef>
                <a:spcPct val="0"/>
              </a:spcBef>
            </a:pPr>
            <a:r>
              <a:rPr lang="en-US" sz="3000" spc="179">
                <a:solidFill>
                  <a:srgbClr val="F1F0EC"/>
                </a:solidFill>
                <a:latin typeface="Public Sans"/>
                <a:ea typeface="Public Sans"/>
                <a:cs typeface="Public Sans"/>
                <a:sym typeface="Public Sans"/>
              </a:rPr>
              <a:t>Ranking of Pakistan among nations in terms of financial literacy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12854535" y="4090873"/>
            <a:ext cx="3936783" cy="4986938"/>
            <a:chOff x="0" y="0"/>
            <a:chExt cx="1102601" cy="139672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102601" cy="1396725"/>
            </a:xfrm>
            <a:custGeom>
              <a:avLst/>
              <a:gdLst/>
              <a:ahLst/>
              <a:cxnLst/>
              <a:rect r="r" b="b" t="t" l="l"/>
              <a:pathLst>
                <a:path h="1396725" w="1102601">
                  <a:moveTo>
                    <a:pt x="29498" y="0"/>
                  </a:moveTo>
                  <a:lnTo>
                    <a:pt x="1073102" y="0"/>
                  </a:lnTo>
                  <a:cubicBezTo>
                    <a:pt x="1080926" y="0"/>
                    <a:pt x="1088429" y="3108"/>
                    <a:pt x="1093961" y="8640"/>
                  </a:cubicBezTo>
                  <a:cubicBezTo>
                    <a:pt x="1099493" y="14172"/>
                    <a:pt x="1102601" y="21675"/>
                    <a:pt x="1102601" y="29498"/>
                  </a:cubicBezTo>
                  <a:lnTo>
                    <a:pt x="1102601" y="1367226"/>
                  </a:lnTo>
                  <a:cubicBezTo>
                    <a:pt x="1102601" y="1383518"/>
                    <a:pt x="1089394" y="1396725"/>
                    <a:pt x="1073102" y="1396725"/>
                  </a:cubicBezTo>
                  <a:lnTo>
                    <a:pt x="29498" y="1396725"/>
                  </a:lnTo>
                  <a:cubicBezTo>
                    <a:pt x="13207" y="1396725"/>
                    <a:pt x="0" y="1383518"/>
                    <a:pt x="0" y="1367226"/>
                  </a:cubicBezTo>
                  <a:lnTo>
                    <a:pt x="0" y="29498"/>
                  </a:lnTo>
                  <a:cubicBezTo>
                    <a:pt x="0" y="13207"/>
                    <a:pt x="13207" y="0"/>
                    <a:pt x="29498" y="0"/>
                  </a:cubicBezTo>
                  <a:close/>
                </a:path>
              </a:pathLst>
            </a:custGeom>
            <a:solidFill>
              <a:srgbClr val="006F53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85725"/>
              <a:ext cx="1102601" cy="13110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25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13105047" y="4628859"/>
            <a:ext cx="3539926" cy="657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00"/>
              </a:lnSpc>
            </a:pPr>
            <a:r>
              <a:rPr lang="en-US" b="true" sz="5000" spc="-410">
                <a:solidFill>
                  <a:srgbClr val="F1F0E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13% of pop.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3105047" y="5889599"/>
            <a:ext cx="3435758" cy="1028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050"/>
              </a:lnSpc>
              <a:spcBef>
                <a:spcPct val="0"/>
              </a:spcBef>
            </a:pPr>
            <a:r>
              <a:rPr lang="en-US" sz="3000" spc="179">
                <a:solidFill>
                  <a:srgbClr val="F1F0EC"/>
                </a:solidFill>
                <a:latin typeface="Public Sans"/>
                <a:ea typeface="Public Sans"/>
                <a:cs typeface="Public Sans"/>
                <a:sym typeface="Public Sans"/>
              </a:rPr>
              <a:t>Holds a formal bank account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1F1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6002417" y="-828898"/>
            <a:ext cx="1703043" cy="2771224"/>
          </a:xfrm>
          <a:custGeom>
            <a:avLst/>
            <a:gdLst/>
            <a:ahLst/>
            <a:cxnLst/>
            <a:rect r="r" b="b" t="t" l="l"/>
            <a:pathLst>
              <a:path h="2771224" w="1703043">
                <a:moveTo>
                  <a:pt x="0" y="0"/>
                </a:moveTo>
                <a:lnTo>
                  <a:pt x="1703043" y="0"/>
                </a:lnTo>
                <a:lnTo>
                  <a:pt x="1703043" y="2771225"/>
                </a:lnTo>
                <a:lnTo>
                  <a:pt x="0" y="277122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340183" y="2652849"/>
            <a:ext cx="8947817" cy="5652140"/>
          </a:xfrm>
          <a:custGeom>
            <a:avLst/>
            <a:gdLst/>
            <a:ahLst/>
            <a:cxnLst/>
            <a:rect r="r" b="b" t="t" l="l"/>
            <a:pathLst>
              <a:path h="5652140" w="8947817">
                <a:moveTo>
                  <a:pt x="0" y="0"/>
                </a:moveTo>
                <a:lnTo>
                  <a:pt x="8947817" y="0"/>
                </a:lnTo>
                <a:lnTo>
                  <a:pt x="8947817" y="5652140"/>
                </a:lnTo>
                <a:lnTo>
                  <a:pt x="0" y="565214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4412" t="0" r="-5924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1219200"/>
            <a:ext cx="7519837" cy="21259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159"/>
              </a:lnSpc>
            </a:pPr>
            <a:r>
              <a:rPr lang="en-US" sz="8499" spc="-696">
                <a:solidFill>
                  <a:srgbClr val="3A855D"/>
                </a:solidFill>
                <a:latin typeface="Public Sans"/>
                <a:ea typeface="Public Sans"/>
                <a:cs typeface="Public Sans"/>
                <a:sym typeface="Public Sans"/>
              </a:rPr>
              <a:t>Insurance and investment gaps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730968" y="3675839"/>
            <a:ext cx="8115300" cy="4629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47700" indent="-323850" lvl="1">
              <a:lnSpc>
                <a:spcPts val="405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000" spc="179" strike="noStrike" u="none">
                <a:solidFill>
                  <a:srgbClr val="006F53"/>
                </a:solidFill>
                <a:latin typeface="Public Sans Medium"/>
                <a:ea typeface="Public Sans Medium"/>
                <a:cs typeface="Public Sans Medium"/>
                <a:sym typeface="Public Sans Medium"/>
              </a:rPr>
              <a:t>Only 8-10% population has insurance coverage (30-35M policies for 245M people)</a:t>
            </a:r>
          </a:p>
          <a:p>
            <a:pPr algn="l" marL="647700" indent="-323850" lvl="1">
              <a:lnSpc>
                <a:spcPts val="405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000" spc="179" strike="noStrike" u="none">
                <a:solidFill>
                  <a:srgbClr val="006F53"/>
                </a:solidFill>
                <a:latin typeface="Public Sans Medium"/>
                <a:ea typeface="Public Sans Medium"/>
                <a:cs typeface="Public Sans Medium"/>
                <a:sym typeface="Public Sans Medium"/>
              </a:rPr>
              <a:t>Less than 0.1% participate in stock market (176,355 retail investors)</a:t>
            </a:r>
          </a:p>
          <a:p>
            <a:pPr algn="l" marL="647700" indent="-323850" lvl="1">
              <a:lnSpc>
                <a:spcPts val="405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000" spc="179" strike="noStrike" u="none">
                <a:solidFill>
                  <a:srgbClr val="006F53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Internationally? </a:t>
            </a:r>
            <a:r>
              <a:rPr lang="en-US" sz="3000" spc="179" strike="noStrike" u="none">
                <a:solidFill>
                  <a:srgbClr val="006F53"/>
                </a:solidFill>
                <a:latin typeface="Public Sans"/>
                <a:ea typeface="Public Sans"/>
                <a:cs typeface="Public Sans"/>
                <a:sym typeface="Public Sans"/>
              </a:rPr>
              <a:t>Way behind.</a:t>
            </a:r>
          </a:p>
          <a:p>
            <a:pPr algn="l" marL="1295400" indent="-431800" lvl="2">
              <a:lnSpc>
                <a:spcPts val="4050"/>
              </a:lnSpc>
              <a:spcBef>
                <a:spcPct val="0"/>
              </a:spcBef>
              <a:buFont typeface="Arial"/>
              <a:buChar char="⚬"/>
            </a:pPr>
            <a:r>
              <a:rPr lang="en-US" sz="3000" spc="179" strike="noStrike" u="none">
                <a:solidFill>
                  <a:srgbClr val="006F53"/>
                </a:solidFill>
                <a:latin typeface="Public Sans"/>
                <a:ea typeface="Public Sans"/>
                <a:cs typeface="Public Sans"/>
                <a:sym typeface="Public Sans"/>
              </a:rPr>
              <a:t>USA: 42% of pop. invests</a:t>
            </a:r>
          </a:p>
          <a:p>
            <a:pPr algn="l" marL="1295400" indent="-431800" lvl="2">
              <a:lnSpc>
                <a:spcPts val="4050"/>
              </a:lnSpc>
              <a:spcBef>
                <a:spcPct val="0"/>
              </a:spcBef>
              <a:buFont typeface="Arial"/>
              <a:buChar char="⚬"/>
            </a:pPr>
            <a:r>
              <a:rPr lang="en-US" sz="3000" spc="179" strike="noStrike" u="none">
                <a:solidFill>
                  <a:srgbClr val="006F53"/>
                </a:solidFill>
                <a:latin typeface="Public Sans"/>
                <a:ea typeface="Public Sans"/>
                <a:cs typeface="Public Sans"/>
                <a:sym typeface="Public Sans"/>
              </a:rPr>
              <a:t>India: 3%</a:t>
            </a:r>
          </a:p>
          <a:p>
            <a:pPr algn="l" marL="1295400" indent="-431800" lvl="2">
              <a:lnSpc>
                <a:spcPts val="4050"/>
              </a:lnSpc>
              <a:spcBef>
                <a:spcPct val="0"/>
              </a:spcBef>
              <a:buFont typeface="Arial"/>
              <a:buChar char="⚬"/>
            </a:pPr>
            <a:r>
              <a:rPr lang="en-US" sz="3000" spc="179" strike="noStrike" u="none">
                <a:solidFill>
                  <a:srgbClr val="006F53"/>
                </a:solidFill>
                <a:latin typeface="Public Sans"/>
                <a:ea typeface="Public Sans"/>
                <a:cs typeface="Public Sans"/>
                <a:sym typeface="Public Sans"/>
              </a:rPr>
              <a:t>Pakistan: </a:t>
            </a:r>
            <a:r>
              <a:rPr lang="en-US" b="true" sz="3000" spc="179" strike="noStrike" u="none">
                <a:solidFill>
                  <a:srgbClr val="006F53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0.04%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1F1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936249" y="3161337"/>
            <a:ext cx="12678710" cy="5119029"/>
          </a:xfrm>
          <a:custGeom>
            <a:avLst/>
            <a:gdLst/>
            <a:ahLst/>
            <a:cxnLst/>
            <a:rect r="r" b="b" t="t" l="l"/>
            <a:pathLst>
              <a:path h="5119029" w="12678710">
                <a:moveTo>
                  <a:pt x="0" y="0"/>
                </a:moveTo>
                <a:lnTo>
                  <a:pt x="12678710" y="0"/>
                </a:lnTo>
                <a:lnTo>
                  <a:pt x="12678710" y="5119030"/>
                </a:lnTo>
                <a:lnTo>
                  <a:pt x="0" y="511903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247523" y="1219200"/>
            <a:ext cx="13792954" cy="10972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159"/>
              </a:lnSpc>
            </a:pPr>
            <a:r>
              <a:rPr lang="en-US" sz="8499" spc="-696">
                <a:solidFill>
                  <a:srgbClr val="3A855D"/>
                </a:solidFill>
                <a:latin typeface="Public Sans"/>
                <a:ea typeface="Public Sans"/>
                <a:cs typeface="Public Sans"/>
                <a:sym typeface="Public Sans"/>
              </a:rPr>
              <a:t>The Opportunity Cost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60304" y="9096375"/>
            <a:ext cx="16230600" cy="619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100"/>
              </a:lnSpc>
            </a:pPr>
            <a:r>
              <a:rPr lang="en-US" b="true" sz="3000" spc="179">
                <a:solidFill>
                  <a:srgbClr val="006F53"/>
                </a:solidFill>
                <a:latin typeface="Public Sans Medium"/>
                <a:ea typeface="Public Sans Medium"/>
                <a:cs typeface="Public Sans Medium"/>
                <a:sym typeface="Public Sans Medium"/>
              </a:rPr>
              <a:t>Pakistani stock market outperformed Gold: The God’s currency.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1F1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6002417" y="-828898"/>
            <a:ext cx="1703043" cy="2771224"/>
          </a:xfrm>
          <a:custGeom>
            <a:avLst/>
            <a:gdLst/>
            <a:ahLst/>
            <a:cxnLst/>
            <a:rect r="r" b="b" t="t" l="l"/>
            <a:pathLst>
              <a:path h="2771224" w="1703043">
                <a:moveTo>
                  <a:pt x="0" y="0"/>
                </a:moveTo>
                <a:lnTo>
                  <a:pt x="1703043" y="0"/>
                </a:lnTo>
                <a:lnTo>
                  <a:pt x="1703043" y="2771225"/>
                </a:lnTo>
                <a:lnTo>
                  <a:pt x="0" y="277122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328836" y="1219200"/>
            <a:ext cx="9011347" cy="21259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159"/>
              </a:lnSpc>
            </a:pPr>
            <a:r>
              <a:rPr lang="en-US" sz="8499" spc="-696">
                <a:solidFill>
                  <a:srgbClr val="3A855D"/>
                </a:solidFill>
                <a:latin typeface="Public Sans"/>
                <a:ea typeface="Public Sans"/>
                <a:cs typeface="Public Sans"/>
                <a:sym typeface="Public Sans"/>
              </a:rPr>
              <a:t>Retirement Planning Emergency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0" y="3812044"/>
            <a:ext cx="8610110" cy="54232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46973" indent="-323487" lvl="1">
              <a:lnSpc>
                <a:spcPts val="4045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2996" spc="179">
                <a:solidFill>
                  <a:srgbClr val="006F53"/>
                </a:solidFill>
                <a:latin typeface="Public Sans Medium"/>
                <a:ea typeface="Public Sans Medium"/>
                <a:cs typeface="Public Sans Medium"/>
                <a:sym typeface="Public Sans Medium"/>
              </a:rPr>
              <a:t>VPS holds o</a:t>
            </a:r>
            <a:r>
              <a:rPr lang="en-US" b="true" sz="2996" spc="179" strike="noStrike" u="none">
                <a:solidFill>
                  <a:srgbClr val="006F53"/>
                </a:solidFill>
                <a:latin typeface="Public Sans Medium"/>
                <a:ea typeface="Public Sans Medium"/>
                <a:cs typeface="Public Sans Medium"/>
                <a:sym typeface="Public Sans Medium"/>
              </a:rPr>
              <a:t>nly PKR 109B (0.3% of GDP)</a:t>
            </a:r>
          </a:p>
          <a:p>
            <a:pPr algn="l">
              <a:lnSpc>
                <a:spcPts val="4045"/>
              </a:lnSpc>
              <a:spcBef>
                <a:spcPct val="0"/>
              </a:spcBef>
            </a:pPr>
          </a:p>
          <a:p>
            <a:pPr algn="l" marL="646973" indent="-323487" lvl="1">
              <a:lnSpc>
                <a:spcPts val="4794"/>
              </a:lnSpc>
              <a:buFont typeface="Arial"/>
              <a:buChar char="•"/>
            </a:pPr>
            <a:r>
              <a:rPr lang="en-US" b="true" sz="2996" spc="179" strike="noStrike" u="none">
                <a:solidFill>
                  <a:srgbClr val="006F53"/>
                </a:solidFill>
                <a:latin typeface="Public Sans Medium"/>
                <a:ea typeface="Public Sans Medium"/>
                <a:cs typeface="Public Sans Medium"/>
                <a:sym typeface="Public Sans Medium"/>
              </a:rPr>
              <a:t>US 401(k): $7.4 trillion (35% of GDP) with 85% workforce participation</a:t>
            </a:r>
          </a:p>
          <a:p>
            <a:pPr algn="l">
              <a:lnSpc>
                <a:spcPts val="4794"/>
              </a:lnSpc>
            </a:pPr>
          </a:p>
          <a:p>
            <a:pPr algn="l" marL="646973" indent="-323487" lvl="1">
              <a:lnSpc>
                <a:spcPts val="4045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2996" spc="179" strike="noStrike" u="none">
                <a:solidFill>
                  <a:srgbClr val="006F53"/>
                </a:solidFill>
                <a:latin typeface="Public Sans Medium"/>
                <a:ea typeface="Public Sans Medium"/>
                <a:cs typeface="Public Sans Medium"/>
                <a:sym typeface="Public Sans Medium"/>
              </a:rPr>
              <a:t>60 million Pakistani workforce largely withou</a:t>
            </a:r>
            <a:r>
              <a:rPr lang="en-US" b="true" sz="2996" spc="179" strike="noStrike" u="none">
                <a:solidFill>
                  <a:srgbClr val="006F53"/>
                </a:solidFill>
                <a:latin typeface="Public Sans Medium"/>
                <a:ea typeface="Public Sans Medium"/>
                <a:cs typeface="Public Sans Medium"/>
                <a:sym typeface="Public Sans Medium"/>
              </a:rPr>
              <a:t>t</a:t>
            </a:r>
            <a:r>
              <a:rPr lang="en-US" b="true" sz="2996" spc="179" strike="noStrike" u="none">
                <a:solidFill>
                  <a:srgbClr val="006F53"/>
                </a:solidFill>
                <a:latin typeface="Public Sans Medium"/>
                <a:ea typeface="Public Sans Medium"/>
                <a:cs typeface="Public Sans Medium"/>
                <a:sym typeface="Public Sans Medium"/>
              </a:rPr>
              <a:t> </a:t>
            </a:r>
            <a:r>
              <a:rPr lang="en-US" b="true" sz="2996" spc="179" strike="noStrike" u="none">
                <a:solidFill>
                  <a:srgbClr val="006F53"/>
                </a:solidFill>
                <a:latin typeface="Public Sans Medium"/>
                <a:ea typeface="Public Sans Medium"/>
                <a:cs typeface="Public Sans Medium"/>
                <a:sym typeface="Public Sans Medium"/>
              </a:rPr>
              <a:t>r</a:t>
            </a:r>
            <a:r>
              <a:rPr lang="en-US" b="true" sz="2996" spc="179" strike="noStrike" u="none">
                <a:solidFill>
                  <a:srgbClr val="006F53"/>
                </a:solidFill>
                <a:latin typeface="Public Sans Medium"/>
                <a:ea typeface="Public Sans Medium"/>
                <a:cs typeface="Public Sans Medium"/>
                <a:sym typeface="Public Sans Medium"/>
              </a:rPr>
              <a:t>e</a:t>
            </a:r>
            <a:r>
              <a:rPr lang="en-US" b="true" sz="2996" spc="179" strike="noStrike" u="none">
                <a:solidFill>
                  <a:srgbClr val="006F53"/>
                </a:solidFill>
                <a:latin typeface="Public Sans Medium"/>
                <a:ea typeface="Public Sans Medium"/>
                <a:cs typeface="Public Sans Medium"/>
                <a:sym typeface="Public Sans Medium"/>
              </a:rPr>
              <a:t>ti</a:t>
            </a:r>
            <a:r>
              <a:rPr lang="en-US" b="true" sz="2996" spc="179" strike="noStrike" u="none">
                <a:solidFill>
                  <a:srgbClr val="006F53"/>
                </a:solidFill>
                <a:latin typeface="Public Sans Medium"/>
                <a:ea typeface="Public Sans Medium"/>
                <a:cs typeface="Public Sans Medium"/>
                <a:sym typeface="Public Sans Medium"/>
              </a:rPr>
              <a:t>rement</a:t>
            </a:r>
            <a:r>
              <a:rPr lang="en-US" b="true" sz="2996" spc="179" strike="noStrike" u="none">
                <a:solidFill>
                  <a:srgbClr val="006F53"/>
                </a:solidFill>
                <a:latin typeface="Public Sans Medium"/>
                <a:ea typeface="Public Sans Medium"/>
                <a:cs typeface="Public Sans Medium"/>
                <a:sym typeface="Public Sans Medium"/>
              </a:rPr>
              <a:t> planning</a:t>
            </a:r>
          </a:p>
          <a:p>
            <a:pPr algn="l">
              <a:lnSpc>
                <a:spcPts val="4045"/>
              </a:lnSpc>
              <a:spcBef>
                <a:spcPct val="0"/>
              </a:spcBef>
            </a:pPr>
          </a:p>
          <a:p>
            <a:pPr algn="l" marL="646973" indent="-323487" lvl="1">
              <a:lnSpc>
                <a:spcPts val="4045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2996" spc="179" strike="noStrike" u="none">
                <a:solidFill>
                  <a:srgbClr val="006F53"/>
                </a:solidFill>
                <a:latin typeface="Public Sans Medium"/>
                <a:ea typeface="Public Sans Medium"/>
                <a:cs typeface="Public Sans Medium"/>
                <a:sym typeface="Public Sans Medium"/>
              </a:rPr>
              <a:t>Government spending large amounts on pension, that can be diverted.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8755249" y="3237518"/>
            <a:ext cx="9532751" cy="5088106"/>
          </a:xfrm>
          <a:custGeom>
            <a:avLst/>
            <a:gdLst/>
            <a:ahLst/>
            <a:cxnLst/>
            <a:rect r="r" b="b" t="t" l="l"/>
            <a:pathLst>
              <a:path h="5088106" w="9532751">
                <a:moveTo>
                  <a:pt x="0" y="0"/>
                </a:moveTo>
                <a:lnTo>
                  <a:pt x="9532751" y="0"/>
                </a:lnTo>
                <a:lnTo>
                  <a:pt x="9532751" y="5088106"/>
                </a:lnTo>
                <a:lnTo>
                  <a:pt x="0" y="50881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1F1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8055637" y="4287790"/>
            <a:ext cx="10232363" cy="5952518"/>
          </a:xfrm>
          <a:custGeom>
            <a:avLst/>
            <a:gdLst/>
            <a:ahLst/>
            <a:cxnLst/>
            <a:rect r="r" b="b" t="t" l="l"/>
            <a:pathLst>
              <a:path h="5952518" w="10232363">
                <a:moveTo>
                  <a:pt x="0" y="0"/>
                </a:moveTo>
                <a:lnTo>
                  <a:pt x="10232363" y="0"/>
                </a:lnTo>
                <a:lnTo>
                  <a:pt x="10232363" y="5952518"/>
                </a:lnTo>
                <a:lnTo>
                  <a:pt x="0" y="595251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-553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247523" y="1219200"/>
            <a:ext cx="13792954" cy="21259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159"/>
              </a:lnSpc>
            </a:pPr>
            <a:r>
              <a:rPr lang="en-US" sz="8499" spc="-696">
                <a:solidFill>
                  <a:srgbClr val="3A855D"/>
                </a:solidFill>
                <a:latin typeface="Public Sans"/>
                <a:ea typeface="Public Sans"/>
                <a:cs typeface="Public Sans"/>
                <a:sym typeface="Public Sans"/>
              </a:rPr>
              <a:t>Solution? Help people become financially literate.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0" y="4125865"/>
            <a:ext cx="7726628" cy="4505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47700" indent="-323850" lvl="1">
              <a:lnSpc>
                <a:spcPts val="5100"/>
              </a:lnSpc>
              <a:buFont typeface="Arial"/>
              <a:buChar char="•"/>
            </a:pPr>
            <a:r>
              <a:rPr lang="en-US" b="true" sz="3000" spc="179">
                <a:solidFill>
                  <a:srgbClr val="006F53"/>
                </a:solidFill>
                <a:latin typeface="Public Sans Medium"/>
                <a:ea typeface="Public Sans Medium"/>
                <a:cs typeface="Public Sans Medium"/>
                <a:sym typeface="Public Sans Medium"/>
              </a:rPr>
              <a:t>200+ survey respondents (18-24 age group)</a:t>
            </a:r>
          </a:p>
          <a:p>
            <a:pPr algn="l" marL="647700" indent="-323850" lvl="1">
              <a:lnSpc>
                <a:spcPts val="5100"/>
              </a:lnSpc>
              <a:buFont typeface="Arial"/>
              <a:buChar char="•"/>
            </a:pPr>
            <a:r>
              <a:rPr lang="en-US" b="true" sz="3000" spc="179">
                <a:solidFill>
                  <a:srgbClr val="006F53"/>
                </a:solidFill>
                <a:latin typeface="Public Sans Medium"/>
                <a:ea typeface="Public Sans Medium"/>
                <a:cs typeface="Public Sans Medium"/>
                <a:sym typeface="Public Sans Medium"/>
              </a:rPr>
              <a:t>75% want to invest but lack knowledge</a:t>
            </a:r>
          </a:p>
          <a:p>
            <a:pPr algn="l" marL="647700" indent="-323850" lvl="1">
              <a:lnSpc>
                <a:spcPts val="5100"/>
              </a:lnSpc>
              <a:buFont typeface="Arial"/>
              <a:buChar char="•"/>
            </a:pPr>
            <a:r>
              <a:rPr lang="en-US" b="true" sz="3000" spc="179">
                <a:solidFill>
                  <a:srgbClr val="006F53"/>
                </a:solidFill>
                <a:latin typeface="Public Sans Medium"/>
                <a:ea typeface="Public Sans Medium"/>
                <a:cs typeface="Public Sans Medium"/>
                <a:sym typeface="Public Sans Medium"/>
              </a:rPr>
              <a:t>Top barriers: "Lack of Knowledge" (40%), "Don't Know Where to Start" (35%)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1F1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1124623"/>
            <a:ext cx="4494107" cy="3922955"/>
            <a:chOff x="0" y="0"/>
            <a:chExt cx="1258694" cy="109872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258694" cy="1098728"/>
            </a:xfrm>
            <a:custGeom>
              <a:avLst/>
              <a:gdLst/>
              <a:ahLst/>
              <a:cxnLst/>
              <a:rect r="r" b="b" t="t" l="l"/>
              <a:pathLst>
                <a:path h="1098728" w="1258694">
                  <a:moveTo>
                    <a:pt x="25840" y="0"/>
                  </a:moveTo>
                  <a:lnTo>
                    <a:pt x="1232854" y="0"/>
                  </a:lnTo>
                  <a:cubicBezTo>
                    <a:pt x="1239707" y="0"/>
                    <a:pt x="1246280" y="2722"/>
                    <a:pt x="1251126" y="7568"/>
                  </a:cubicBezTo>
                  <a:cubicBezTo>
                    <a:pt x="1255972" y="12414"/>
                    <a:pt x="1258694" y="18987"/>
                    <a:pt x="1258694" y="25840"/>
                  </a:cubicBezTo>
                  <a:lnTo>
                    <a:pt x="1258694" y="1072888"/>
                  </a:lnTo>
                  <a:cubicBezTo>
                    <a:pt x="1258694" y="1087159"/>
                    <a:pt x="1247125" y="1098728"/>
                    <a:pt x="1232854" y="1098728"/>
                  </a:cubicBezTo>
                  <a:lnTo>
                    <a:pt x="25840" y="1098728"/>
                  </a:lnTo>
                  <a:cubicBezTo>
                    <a:pt x="11569" y="1098728"/>
                    <a:pt x="0" y="1087159"/>
                    <a:pt x="0" y="1072888"/>
                  </a:cubicBezTo>
                  <a:lnTo>
                    <a:pt x="0" y="25840"/>
                  </a:lnTo>
                  <a:cubicBezTo>
                    <a:pt x="0" y="11569"/>
                    <a:pt x="11569" y="0"/>
                    <a:pt x="25840" y="0"/>
                  </a:cubicBezTo>
                  <a:close/>
                </a:path>
              </a:pathLst>
            </a:custGeom>
            <a:solidFill>
              <a:srgbClr val="006F53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85725"/>
              <a:ext cx="1258694" cy="101300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25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028700" y="5239423"/>
            <a:ext cx="4494107" cy="3922955"/>
            <a:chOff x="0" y="0"/>
            <a:chExt cx="1258694" cy="109872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58694" cy="1098728"/>
            </a:xfrm>
            <a:custGeom>
              <a:avLst/>
              <a:gdLst/>
              <a:ahLst/>
              <a:cxnLst/>
              <a:rect r="r" b="b" t="t" l="l"/>
              <a:pathLst>
                <a:path h="1098728" w="1258694">
                  <a:moveTo>
                    <a:pt x="25840" y="0"/>
                  </a:moveTo>
                  <a:lnTo>
                    <a:pt x="1232854" y="0"/>
                  </a:lnTo>
                  <a:cubicBezTo>
                    <a:pt x="1239707" y="0"/>
                    <a:pt x="1246280" y="2722"/>
                    <a:pt x="1251126" y="7568"/>
                  </a:cubicBezTo>
                  <a:cubicBezTo>
                    <a:pt x="1255972" y="12414"/>
                    <a:pt x="1258694" y="18987"/>
                    <a:pt x="1258694" y="25840"/>
                  </a:cubicBezTo>
                  <a:lnTo>
                    <a:pt x="1258694" y="1072888"/>
                  </a:lnTo>
                  <a:cubicBezTo>
                    <a:pt x="1258694" y="1087159"/>
                    <a:pt x="1247125" y="1098728"/>
                    <a:pt x="1232854" y="1098728"/>
                  </a:cubicBezTo>
                  <a:lnTo>
                    <a:pt x="25840" y="1098728"/>
                  </a:lnTo>
                  <a:cubicBezTo>
                    <a:pt x="11569" y="1098728"/>
                    <a:pt x="0" y="1087159"/>
                    <a:pt x="0" y="1072888"/>
                  </a:cubicBezTo>
                  <a:lnTo>
                    <a:pt x="0" y="25840"/>
                  </a:lnTo>
                  <a:cubicBezTo>
                    <a:pt x="0" y="11569"/>
                    <a:pt x="11569" y="0"/>
                    <a:pt x="25840" y="0"/>
                  </a:cubicBezTo>
                  <a:close/>
                </a:path>
              </a:pathLst>
            </a:custGeom>
            <a:solidFill>
              <a:srgbClr val="006F53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85725"/>
              <a:ext cx="1258694" cy="101300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25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2761288" y="1124623"/>
            <a:ext cx="4494107" cy="3922955"/>
            <a:chOff x="0" y="0"/>
            <a:chExt cx="1258694" cy="109872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258694" cy="1098728"/>
            </a:xfrm>
            <a:custGeom>
              <a:avLst/>
              <a:gdLst/>
              <a:ahLst/>
              <a:cxnLst/>
              <a:rect r="r" b="b" t="t" l="l"/>
              <a:pathLst>
                <a:path h="1098728" w="1258694">
                  <a:moveTo>
                    <a:pt x="25840" y="0"/>
                  </a:moveTo>
                  <a:lnTo>
                    <a:pt x="1232854" y="0"/>
                  </a:lnTo>
                  <a:cubicBezTo>
                    <a:pt x="1239707" y="0"/>
                    <a:pt x="1246280" y="2722"/>
                    <a:pt x="1251126" y="7568"/>
                  </a:cubicBezTo>
                  <a:cubicBezTo>
                    <a:pt x="1255972" y="12414"/>
                    <a:pt x="1258694" y="18987"/>
                    <a:pt x="1258694" y="25840"/>
                  </a:cubicBezTo>
                  <a:lnTo>
                    <a:pt x="1258694" y="1072888"/>
                  </a:lnTo>
                  <a:cubicBezTo>
                    <a:pt x="1258694" y="1087159"/>
                    <a:pt x="1247125" y="1098728"/>
                    <a:pt x="1232854" y="1098728"/>
                  </a:cubicBezTo>
                  <a:lnTo>
                    <a:pt x="25840" y="1098728"/>
                  </a:lnTo>
                  <a:cubicBezTo>
                    <a:pt x="11569" y="1098728"/>
                    <a:pt x="0" y="1087159"/>
                    <a:pt x="0" y="1072888"/>
                  </a:cubicBezTo>
                  <a:lnTo>
                    <a:pt x="0" y="25840"/>
                  </a:lnTo>
                  <a:cubicBezTo>
                    <a:pt x="0" y="11569"/>
                    <a:pt x="11569" y="0"/>
                    <a:pt x="25840" y="0"/>
                  </a:cubicBezTo>
                  <a:close/>
                </a:path>
              </a:pathLst>
            </a:custGeom>
            <a:solidFill>
              <a:srgbClr val="006F5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85725"/>
              <a:ext cx="1258694" cy="101300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25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2761288" y="5239423"/>
            <a:ext cx="4494107" cy="3922955"/>
            <a:chOff x="0" y="0"/>
            <a:chExt cx="1258694" cy="1098728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258694" cy="1098728"/>
            </a:xfrm>
            <a:custGeom>
              <a:avLst/>
              <a:gdLst/>
              <a:ahLst/>
              <a:cxnLst/>
              <a:rect r="r" b="b" t="t" l="l"/>
              <a:pathLst>
                <a:path h="1098728" w="1258694">
                  <a:moveTo>
                    <a:pt x="25840" y="0"/>
                  </a:moveTo>
                  <a:lnTo>
                    <a:pt x="1232854" y="0"/>
                  </a:lnTo>
                  <a:cubicBezTo>
                    <a:pt x="1239707" y="0"/>
                    <a:pt x="1246280" y="2722"/>
                    <a:pt x="1251126" y="7568"/>
                  </a:cubicBezTo>
                  <a:cubicBezTo>
                    <a:pt x="1255972" y="12414"/>
                    <a:pt x="1258694" y="18987"/>
                    <a:pt x="1258694" y="25840"/>
                  </a:cubicBezTo>
                  <a:lnTo>
                    <a:pt x="1258694" y="1072888"/>
                  </a:lnTo>
                  <a:cubicBezTo>
                    <a:pt x="1258694" y="1087159"/>
                    <a:pt x="1247125" y="1098728"/>
                    <a:pt x="1232854" y="1098728"/>
                  </a:cubicBezTo>
                  <a:lnTo>
                    <a:pt x="25840" y="1098728"/>
                  </a:lnTo>
                  <a:cubicBezTo>
                    <a:pt x="11569" y="1098728"/>
                    <a:pt x="0" y="1087159"/>
                    <a:pt x="0" y="1072888"/>
                  </a:cubicBezTo>
                  <a:lnTo>
                    <a:pt x="0" y="25840"/>
                  </a:lnTo>
                  <a:cubicBezTo>
                    <a:pt x="0" y="11569"/>
                    <a:pt x="11569" y="0"/>
                    <a:pt x="25840" y="0"/>
                  </a:cubicBezTo>
                  <a:close/>
                </a:path>
              </a:pathLst>
            </a:custGeom>
            <a:solidFill>
              <a:srgbClr val="006F53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85725"/>
              <a:ext cx="1258694" cy="101300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25"/>
                </a:lnSpc>
              </a:pP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-7900054">
            <a:off x="6110369" y="2475306"/>
            <a:ext cx="1066177" cy="478811"/>
          </a:xfrm>
          <a:custGeom>
            <a:avLst/>
            <a:gdLst/>
            <a:ahLst/>
            <a:cxnLst/>
            <a:rect r="r" b="b" t="t" l="l"/>
            <a:pathLst>
              <a:path h="478811" w="1066177">
                <a:moveTo>
                  <a:pt x="0" y="0"/>
                </a:moveTo>
                <a:lnTo>
                  <a:pt x="1066177" y="0"/>
                </a:lnTo>
                <a:lnTo>
                  <a:pt x="1066177" y="478810"/>
                </a:lnTo>
                <a:lnTo>
                  <a:pt x="0" y="4788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2700000">
            <a:off x="11206941" y="2487377"/>
            <a:ext cx="1066177" cy="478811"/>
          </a:xfrm>
          <a:custGeom>
            <a:avLst/>
            <a:gdLst/>
            <a:ahLst/>
            <a:cxnLst/>
            <a:rect r="r" b="b" t="t" l="l"/>
            <a:pathLst>
              <a:path h="478811" w="1066177">
                <a:moveTo>
                  <a:pt x="0" y="0"/>
                </a:moveTo>
                <a:lnTo>
                  <a:pt x="1066177" y="0"/>
                </a:lnTo>
                <a:lnTo>
                  <a:pt x="1066177" y="478810"/>
                </a:lnTo>
                <a:lnTo>
                  <a:pt x="0" y="4788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3209977">
            <a:off x="11170248" y="7319337"/>
            <a:ext cx="1066177" cy="478811"/>
          </a:xfrm>
          <a:custGeom>
            <a:avLst/>
            <a:gdLst/>
            <a:ahLst/>
            <a:cxnLst/>
            <a:rect r="r" b="b" t="t" l="l"/>
            <a:pathLst>
              <a:path h="478811" w="1066177">
                <a:moveTo>
                  <a:pt x="0" y="0"/>
                </a:moveTo>
                <a:lnTo>
                  <a:pt x="1066177" y="0"/>
                </a:lnTo>
                <a:lnTo>
                  <a:pt x="1066177" y="478811"/>
                </a:lnTo>
                <a:lnTo>
                  <a:pt x="0" y="4788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7866361">
            <a:off x="5999518" y="7293938"/>
            <a:ext cx="1066177" cy="478811"/>
          </a:xfrm>
          <a:custGeom>
            <a:avLst/>
            <a:gdLst/>
            <a:ahLst/>
            <a:cxnLst/>
            <a:rect r="r" b="b" t="t" l="l"/>
            <a:pathLst>
              <a:path h="478811" w="1066177">
                <a:moveTo>
                  <a:pt x="0" y="0"/>
                </a:moveTo>
                <a:lnTo>
                  <a:pt x="1066178" y="0"/>
                </a:lnTo>
                <a:lnTo>
                  <a:pt x="1066178" y="478811"/>
                </a:lnTo>
                <a:lnTo>
                  <a:pt x="0" y="4788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8467582" y="1363193"/>
            <a:ext cx="1352836" cy="1444777"/>
          </a:xfrm>
          <a:custGeom>
            <a:avLst/>
            <a:gdLst/>
            <a:ahLst/>
            <a:cxnLst/>
            <a:rect r="r" b="b" t="t" l="l"/>
            <a:pathLst>
              <a:path h="1444777" w="1352836">
                <a:moveTo>
                  <a:pt x="0" y="0"/>
                </a:moveTo>
                <a:lnTo>
                  <a:pt x="1352836" y="0"/>
                </a:lnTo>
                <a:lnTo>
                  <a:pt x="1352836" y="1444777"/>
                </a:lnTo>
                <a:lnTo>
                  <a:pt x="0" y="144477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0">
            <a:off x="6408832" y="3484245"/>
            <a:ext cx="5470336" cy="34613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720"/>
              </a:lnSpc>
            </a:pPr>
            <a:r>
              <a:rPr lang="en-US" sz="7000" spc="-574">
                <a:solidFill>
                  <a:srgbClr val="3A855D"/>
                </a:solidFill>
                <a:latin typeface="Public Sans"/>
                <a:ea typeface="Public Sans"/>
                <a:cs typeface="Public Sans"/>
                <a:sym typeface="Public Sans"/>
              </a:rPr>
              <a:t>Presenting:</a:t>
            </a:r>
          </a:p>
          <a:p>
            <a:pPr algn="ctr">
              <a:lnSpc>
                <a:spcPts val="6720"/>
              </a:lnSpc>
            </a:pPr>
          </a:p>
          <a:p>
            <a:pPr algn="ctr">
              <a:lnSpc>
                <a:spcPts val="6720"/>
              </a:lnSpc>
            </a:pPr>
            <a:r>
              <a:rPr lang="en-US" b="true" sz="7000" spc="-574">
                <a:solidFill>
                  <a:srgbClr val="000000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Fin</a:t>
            </a:r>
            <a:r>
              <a:rPr lang="en-US" b="true" sz="7000" spc="-574">
                <a:solidFill>
                  <a:srgbClr val="3A855D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asaan</a:t>
            </a:r>
          </a:p>
          <a:p>
            <a:pPr algn="ctr">
              <a:lnSpc>
                <a:spcPts val="6720"/>
              </a:lnSpc>
            </a:pPr>
          </a:p>
        </p:txBody>
      </p:sp>
      <p:sp>
        <p:nvSpPr>
          <p:cNvPr name="Freeform 20" id="20"/>
          <p:cNvSpPr/>
          <p:nvPr/>
        </p:nvSpPr>
        <p:spPr>
          <a:xfrm flipH="false" flipV="false" rot="0">
            <a:off x="7924220" y="7438094"/>
            <a:ext cx="2439559" cy="496783"/>
          </a:xfrm>
          <a:custGeom>
            <a:avLst/>
            <a:gdLst/>
            <a:ahLst/>
            <a:cxnLst/>
            <a:rect r="r" b="b" t="t" l="l"/>
            <a:pathLst>
              <a:path h="496783" w="2439559">
                <a:moveTo>
                  <a:pt x="0" y="0"/>
                </a:moveTo>
                <a:lnTo>
                  <a:pt x="2439560" y="0"/>
                </a:lnTo>
                <a:lnTo>
                  <a:pt x="2439560" y="496783"/>
                </a:lnTo>
                <a:lnTo>
                  <a:pt x="0" y="49678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1309934" y="1962150"/>
            <a:ext cx="3847783" cy="248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00"/>
              </a:lnSpc>
            </a:pPr>
            <a:r>
              <a:rPr lang="en-US" sz="5000" spc="-410">
                <a:solidFill>
                  <a:srgbClr val="F1F0EC"/>
                </a:solidFill>
                <a:latin typeface="Public Sans"/>
                <a:ea typeface="Public Sans"/>
                <a:cs typeface="Public Sans"/>
                <a:sym typeface="Public Sans"/>
              </a:rPr>
              <a:t>Dual-interface approach (Beginner &amp; Advanced)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2964204" y="1895475"/>
            <a:ext cx="4088276" cy="248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800"/>
              </a:lnSpc>
              <a:spcBef>
                <a:spcPct val="0"/>
              </a:spcBef>
            </a:pPr>
            <a:r>
              <a:rPr lang="en-US" sz="5000" spc="-410">
                <a:solidFill>
                  <a:srgbClr val="F1F0EC"/>
                </a:solidFill>
                <a:latin typeface="Public Sans"/>
                <a:ea typeface="Public Sans"/>
                <a:cs typeface="Public Sans"/>
                <a:sym typeface="Public Sans"/>
              </a:rPr>
              <a:t>PSX, Mutual Funds, Insurance, all in one learning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263572" y="6036945"/>
            <a:ext cx="4024364" cy="1876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800"/>
              </a:lnSpc>
              <a:spcBef>
                <a:spcPct val="0"/>
              </a:spcBef>
            </a:pPr>
            <a:r>
              <a:rPr lang="en-US" sz="5000" spc="-410" strike="noStrike" u="none">
                <a:solidFill>
                  <a:srgbClr val="F1F0EC"/>
                </a:solidFill>
                <a:latin typeface="Public Sans"/>
                <a:ea typeface="Public Sans"/>
                <a:cs typeface="Public Sans"/>
                <a:sym typeface="Public Sans"/>
              </a:rPr>
              <a:t>AI-powered personalized learning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3233671" y="6010275"/>
            <a:ext cx="3549341" cy="248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800"/>
              </a:lnSpc>
              <a:spcBef>
                <a:spcPct val="0"/>
              </a:spcBef>
            </a:pPr>
            <a:r>
              <a:rPr lang="en-US" sz="5000" spc="-410" strike="noStrike" u="none">
                <a:solidFill>
                  <a:srgbClr val="F1F0EC"/>
                </a:solidFill>
                <a:latin typeface="Public Sans"/>
                <a:ea typeface="Public Sans"/>
                <a:cs typeface="Public Sans"/>
                <a:sym typeface="Public Sans"/>
              </a:rPr>
              <a:t>Adaptive learning based on user proficiency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1F1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395000" y="2805965"/>
            <a:ext cx="11498000" cy="6262340"/>
          </a:xfrm>
          <a:custGeom>
            <a:avLst/>
            <a:gdLst/>
            <a:ahLst/>
            <a:cxnLst/>
            <a:rect r="r" b="b" t="t" l="l"/>
            <a:pathLst>
              <a:path h="6262340" w="11498000">
                <a:moveTo>
                  <a:pt x="0" y="0"/>
                </a:moveTo>
                <a:lnTo>
                  <a:pt x="11498000" y="0"/>
                </a:lnTo>
                <a:lnTo>
                  <a:pt x="11498000" y="6262340"/>
                </a:lnTo>
                <a:lnTo>
                  <a:pt x="0" y="62623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983" r="0" b="-1983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247523" y="1219200"/>
            <a:ext cx="13792954" cy="10972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159"/>
              </a:lnSpc>
            </a:pPr>
            <a:r>
              <a:rPr lang="en-US" sz="8499" spc="-696">
                <a:solidFill>
                  <a:srgbClr val="3A855D"/>
                </a:solidFill>
                <a:latin typeface="Public Sans"/>
                <a:ea typeface="Public Sans"/>
                <a:cs typeface="Public Sans"/>
                <a:sym typeface="Public Sans"/>
              </a:rPr>
              <a:t>User requirements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bg>
      <p:bgPr>
        <a:solidFill>
          <a:srgbClr val="F1F1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409700" y="2430284"/>
            <a:ext cx="8229159" cy="21259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159"/>
              </a:lnSpc>
            </a:pPr>
            <a:r>
              <a:rPr lang="en-US" sz="8499" spc="-696">
                <a:solidFill>
                  <a:srgbClr val="3A855D"/>
                </a:solidFill>
                <a:latin typeface="Public Sans"/>
                <a:ea typeface="Public Sans"/>
                <a:cs typeface="Public Sans"/>
                <a:sym typeface="Public Sans"/>
              </a:rPr>
              <a:t>Core Features &amp; Modules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409700" y="4694416"/>
            <a:ext cx="7519837" cy="3086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50"/>
              </a:lnSpc>
            </a:pPr>
            <a:r>
              <a:rPr lang="en-US" sz="3000" spc="179">
                <a:solidFill>
                  <a:srgbClr val="3A855D"/>
                </a:solidFill>
                <a:latin typeface="Public Sans"/>
                <a:ea typeface="Public Sans"/>
                <a:cs typeface="Public Sans"/>
                <a:sym typeface="Public Sans"/>
              </a:rPr>
              <a:t>Finasaan aims to provide ease of learning with the following modules.</a:t>
            </a:r>
          </a:p>
          <a:p>
            <a:pPr algn="l">
              <a:lnSpc>
                <a:spcPts val="4050"/>
              </a:lnSpc>
            </a:pPr>
          </a:p>
          <a:p>
            <a:pPr algn="l" marL="0" indent="0" lvl="0">
              <a:lnSpc>
                <a:spcPts val="4050"/>
              </a:lnSpc>
              <a:spcBef>
                <a:spcPct val="0"/>
              </a:spcBef>
            </a:pPr>
            <a:r>
              <a:rPr lang="en-US" sz="3000" spc="179">
                <a:solidFill>
                  <a:srgbClr val="3A855D"/>
                </a:solidFill>
                <a:latin typeface="Public Sans"/>
                <a:ea typeface="Public Sans"/>
                <a:cs typeface="Public Sans"/>
                <a:sym typeface="Public Sans"/>
              </a:rPr>
              <a:t>The aim is to provide these features for an existing retail investor and also someone who is about to start.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0261239" y="1705023"/>
            <a:ext cx="6998061" cy="1069523"/>
            <a:chOff x="0" y="0"/>
            <a:chExt cx="2342659" cy="35803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342659" cy="358032"/>
            </a:xfrm>
            <a:custGeom>
              <a:avLst/>
              <a:gdLst/>
              <a:ahLst/>
              <a:cxnLst/>
              <a:rect r="r" b="b" t="t" l="l"/>
              <a:pathLst>
                <a:path h="358032" w="2342659">
                  <a:moveTo>
                    <a:pt x="16594" y="0"/>
                  </a:moveTo>
                  <a:lnTo>
                    <a:pt x="2326064" y="0"/>
                  </a:lnTo>
                  <a:cubicBezTo>
                    <a:pt x="2335229" y="0"/>
                    <a:pt x="2342659" y="7430"/>
                    <a:pt x="2342659" y="16594"/>
                  </a:cubicBezTo>
                  <a:lnTo>
                    <a:pt x="2342659" y="341437"/>
                  </a:lnTo>
                  <a:cubicBezTo>
                    <a:pt x="2342659" y="350602"/>
                    <a:pt x="2335229" y="358032"/>
                    <a:pt x="2326064" y="358032"/>
                  </a:cubicBezTo>
                  <a:lnTo>
                    <a:pt x="16594" y="358032"/>
                  </a:lnTo>
                  <a:cubicBezTo>
                    <a:pt x="7430" y="358032"/>
                    <a:pt x="0" y="350602"/>
                    <a:pt x="0" y="341437"/>
                  </a:cubicBezTo>
                  <a:lnTo>
                    <a:pt x="0" y="16594"/>
                  </a:lnTo>
                  <a:cubicBezTo>
                    <a:pt x="0" y="7430"/>
                    <a:pt x="7430" y="0"/>
                    <a:pt x="16594" y="0"/>
                  </a:cubicBezTo>
                  <a:close/>
                </a:path>
              </a:pathLst>
            </a:custGeom>
            <a:solidFill>
              <a:srgbClr val="006F53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85725"/>
              <a:ext cx="2342659" cy="2723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25"/>
                </a:lnSpc>
              </a:pP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10767897" y="1870953"/>
            <a:ext cx="6316691" cy="657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00"/>
              </a:lnSpc>
            </a:pPr>
            <a:r>
              <a:rPr lang="en-US" sz="5000" spc="-410">
                <a:solidFill>
                  <a:srgbClr val="F1F0EC"/>
                </a:solidFill>
                <a:latin typeface="Public Sans"/>
                <a:ea typeface="Public Sans"/>
                <a:cs typeface="Public Sans"/>
                <a:sym typeface="Public Sans"/>
              </a:rPr>
              <a:t>01. Stock Exchange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0261239" y="3398024"/>
            <a:ext cx="6998061" cy="1069523"/>
            <a:chOff x="0" y="0"/>
            <a:chExt cx="2342659" cy="35803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342659" cy="358032"/>
            </a:xfrm>
            <a:custGeom>
              <a:avLst/>
              <a:gdLst/>
              <a:ahLst/>
              <a:cxnLst/>
              <a:rect r="r" b="b" t="t" l="l"/>
              <a:pathLst>
                <a:path h="358032" w="2342659">
                  <a:moveTo>
                    <a:pt x="16594" y="0"/>
                  </a:moveTo>
                  <a:lnTo>
                    <a:pt x="2326064" y="0"/>
                  </a:lnTo>
                  <a:cubicBezTo>
                    <a:pt x="2335229" y="0"/>
                    <a:pt x="2342659" y="7430"/>
                    <a:pt x="2342659" y="16594"/>
                  </a:cubicBezTo>
                  <a:lnTo>
                    <a:pt x="2342659" y="341437"/>
                  </a:lnTo>
                  <a:cubicBezTo>
                    <a:pt x="2342659" y="350602"/>
                    <a:pt x="2335229" y="358032"/>
                    <a:pt x="2326064" y="358032"/>
                  </a:cubicBezTo>
                  <a:lnTo>
                    <a:pt x="16594" y="358032"/>
                  </a:lnTo>
                  <a:cubicBezTo>
                    <a:pt x="7430" y="358032"/>
                    <a:pt x="0" y="350602"/>
                    <a:pt x="0" y="341437"/>
                  </a:cubicBezTo>
                  <a:lnTo>
                    <a:pt x="0" y="16594"/>
                  </a:lnTo>
                  <a:cubicBezTo>
                    <a:pt x="0" y="7430"/>
                    <a:pt x="7430" y="0"/>
                    <a:pt x="16594" y="0"/>
                  </a:cubicBezTo>
                  <a:close/>
                </a:path>
              </a:pathLst>
            </a:custGeom>
            <a:solidFill>
              <a:srgbClr val="006F5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85725"/>
              <a:ext cx="2342659" cy="2723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25"/>
                </a:lnSpc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10767897" y="3563954"/>
            <a:ext cx="6316691" cy="657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00"/>
              </a:lnSpc>
            </a:pPr>
            <a:r>
              <a:rPr lang="en-US" sz="5000" spc="-410">
                <a:solidFill>
                  <a:srgbClr val="F1F0EC"/>
                </a:solidFill>
                <a:latin typeface="Public Sans"/>
                <a:ea typeface="Public Sans"/>
                <a:cs typeface="Public Sans"/>
                <a:sym typeface="Public Sans"/>
              </a:rPr>
              <a:t>02.  Mutual Funds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10261239" y="5091025"/>
            <a:ext cx="6998061" cy="1069523"/>
            <a:chOff x="0" y="0"/>
            <a:chExt cx="2342659" cy="358032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342659" cy="358032"/>
            </a:xfrm>
            <a:custGeom>
              <a:avLst/>
              <a:gdLst/>
              <a:ahLst/>
              <a:cxnLst/>
              <a:rect r="r" b="b" t="t" l="l"/>
              <a:pathLst>
                <a:path h="358032" w="2342659">
                  <a:moveTo>
                    <a:pt x="16594" y="0"/>
                  </a:moveTo>
                  <a:lnTo>
                    <a:pt x="2326064" y="0"/>
                  </a:lnTo>
                  <a:cubicBezTo>
                    <a:pt x="2335229" y="0"/>
                    <a:pt x="2342659" y="7430"/>
                    <a:pt x="2342659" y="16594"/>
                  </a:cubicBezTo>
                  <a:lnTo>
                    <a:pt x="2342659" y="341437"/>
                  </a:lnTo>
                  <a:cubicBezTo>
                    <a:pt x="2342659" y="350602"/>
                    <a:pt x="2335229" y="358032"/>
                    <a:pt x="2326064" y="358032"/>
                  </a:cubicBezTo>
                  <a:lnTo>
                    <a:pt x="16594" y="358032"/>
                  </a:lnTo>
                  <a:cubicBezTo>
                    <a:pt x="7430" y="358032"/>
                    <a:pt x="0" y="350602"/>
                    <a:pt x="0" y="341437"/>
                  </a:cubicBezTo>
                  <a:lnTo>
                    <a:pt x="0" y="16594"/>
                  </a:lnTo>
                  <a:cubicBezTo>
                    <a:pt x="0" y="7430"/>
                    <a:pt x="7430" y="0"/>
                    <a:pt x="16594" y="0"/>
                  </a:cubicBezTo>
                  <a:close/>
                </a:path>
              </a:pathLst>
            </a:custGeom>
            <a:solidFill>
              <a:srgbClr val="006F53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85725"/>
              <a:ext cx="2342659" cy="2723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25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10767897" y="5256955"/>
            <a:ext cx="6316691" cy="657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00"/>
              </a:lnSpc>
            </a:pPr>
            <a:r>
              <a:rPr lang="en-US" sz="5000" spc="-410">
                <a:solidFill>
                  <a:srgbClr val="F1F0EC"/>
                </a:solidFill>
                <a:latin typeface="Public Sans"/>
                <a:ea typeface="Public Sans"/>
                <a:cs typeface="Public Sans"/>
                <a:sym typeface="Public Sans"/>
              </a:rPr>
              <a:t>03. Insurance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0261239" y="6784026"/>
            <a:ext cx="6998061" cy="1069523"/>
            <a:chOff x="0" y="0"/>
            <a:chExt cx="2342659" cy="358032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342659" cy="358032"/>
            </a:xfrm>
            <a:custGeom>
              <a:avLst/>
              <a:gdLst/>
              <a:ahLst/>
              <a:cxnLst/>
              <a:rect r="r" b="b" t="t" l="l"/>
              <a:pathLst>
                <a:path h="358032" w="2342659">
                  <a:moveTo>
                    <a:pt x="16594" y="0"/>
                  </a:moveTo>
                  <a:lnTo>
                    <a:pt x="2326064" y="0"/>
                  </a:lnTo>
                  <a:cubicBezTo>
                    <a:pt x="2335229" y="0"/>
                    <a:pt x="2342659" y="7430"/>
                    <a:pt x="2342659" y="16594"/>
                  </a:cubicBezTo>
                  <a:lnTo>
                    <a:pt x="2342659" y="341437"/>
                  </a:lnTo>
                  <a:cubicBezTo>
                    <a:pt x="2342659" y="350602"/>
                    <a:pt x="2335229" y="358032"/>
                    <a:pt x="2326064" y="358032"/>
                  </a:cubicBezTo>
                  <a:lnTo>
                    <a:pt x="16594" y="358032"/>
                  </a:lnTo>
                  <a:cubicBezTo>
                    <a:pt x="7430" y="358032"/>
                    <a:pt x="0" y="350602"/>
                    <a:pt x="0" y="341437"/>
                  </a:cubicBezTo>
                  <a:lnTo>
                    <a:pt x="0" y="16594"/>
                  </a:lnTo>
                  <a:cubicBezTo>
                    <a:pt x="0" y="7430"/>
                    <a:pt x="7430" y="0"/>
                    <a:pt x="16594" y="0"/>
                  </a:cubicBezTo>
                  <a:close/>
                </a:path>
              </a:pathLst>
            </a:custGeom>
            <a:solidFill>
              <a:srgbClr val="006F53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85725"/>
              <a:ext cx="2342659" cy="2723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25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10767897" y="6949956"/>
            <a:ext cx="6316691" cy="657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00"/>
              </a:lnSpc>
            </a:pPr>
            <a:r>
              <a:rPr lang="en-US" sz="5000" spc="-410">
                <a:solidFill>
                  <a:srgbClr val="F1F0EC"/>
                </a:solidFill>
                <a:latin typeface="Public Sans"/>
                <a:ea typeface="Public Sans"/>
                <a:cs typeface="Public Sans"/>
                <a:sym typeface="Public Sans"/>
              </a:rPr>
              <a:t>04. Calculators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10261239" y="8477027"/>
            <a:ext cx="6998061" cy="1069523"/>
            <a:chOff x="0" y="0"/>
            <a:chExt cx="2342659" cy="358032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342659" cy="358032"/>
            </a:xfrm>
            <a:custGeom>
              <a:avLst/>
              <a:gdLst/>
              <a:ahLst/>
              <a:cxnLst/>
              <a:rect r="r" b="b" t="t" l="l"/>
              <a:pathLst>
                <a:path h="358032" w="2342659">
                  <a:moveTo>
                    <a:pt x="16594" y="0"/>
                  </a:moveTo>
                  <a:lnTo>
                    <a:pt x="2326064" y="0"/>
                  </a:lnTo>
                  <a:cubicBezTo>
                    <a:pt x="2335229" y="0"/>
                    <a:pt x="2342659" y="7430"/>
                    <a:pt x="2342659" y="16594"/>
                  </a:cubicBezTo>
                  <a:lnTo>
                    <a:pt x="2342659" y="341437"/>
                  </a:lnTo>
                  <a:cubicBezTo>
                    <a:pt x="2342659" y="350602"/>
                    <a:pt x="2335229" y="358032"/>
                    <a:pt x="2326064" y="358032"/>
                  </a:cubicBezTo>
                  <a:lnTo>
                    <a:pt x="16594" y="358032"/>
                  </a:lnTo>
                  <a:cubicBezTo>
                    <a:pt x="7430" y="358032"/>
                    <a:pt x="0" y="350602"/>
                    <a:pt x="0" y="341437"/>
                  </a:cubicBezTo>
                  <a:lnTo>
                    <a:pt x="0" y="16594"/>
                  </a:lnTo>
                  <a:cubicBezTo>
                    <a:pt x="0" y="7430"/>
                    <a:pt x="7430" y="0"/>
                    <a:pt x="16594" y="0"/>
                  </a:cubicBezTo>
                  <a:close/>
                </a:path>
              </a:pathLst>
            </a:custGeom>
            <a:solidFill>
              <a:srgbClr val="006F53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85725"/>
              <a:ext cx="2342659" cy="2723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25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0767897" y="8642957"/>
            <a:ext cx="6316691" cy="657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00"/>
              </a:lnSpc>
            </a:pPr>
            <a:r>
              <a:rPr lang="en-US" sz="5000" spc="-410">
                <a:solidFill>
                  <a:srgbClr val="F1F0EC"/>
                </a:solidFill>
                <a:latin typeface="Public Sans"/>
                <a:ea typeface="Public Sans"/>
                <a:cs typeface="Public Sans"/>
                <a:sym typeface="Public Sans"/>
              </a:rPr>
              <a:t>05. Taxation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1F1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2453392"/>
            <a:ext cx="2374020" cy="2690108"/>
          </a:xfrm>
          <a:custGeom>
            <a:avLst/>
            <a:gdLst/>
            <a:ahLst/>
            <a:cxnLst/>
            <a:rect r="r" b="b" t="t" l="l"/>
            <a:pathLst>
              <a:path h="2690108" w="2374020">
                <a:moveTo>
                  <a:pt x="0" y="0"/>
                </a:moveTo>
                <a:lnTo>
                  <a:pt x="2374020" y="0"/>
                </a:lnTo>
                <a:lnTo>
                  <a:pt x="2374020" y="2690108"/>
                </a:lnTo>
                <a:lnTo>
                  <a:pt x="0" y="269010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8317954" y="3015806"/>
            <a:ext cx="1652092" cy="2127694"/>
          </a:xfrm>
          <a:custGeom>
            <a:avLst/>
            <a:gdLst/>
            <a:ahLst/>
            <a:cxnLst/>
            <a:rect r="r" b="b" t="t" l="l"/>
            <a:pathLst>
              <a:path h="2127694" w="1652092">
                <a:moveTo>
                  <a:pt x="0" y="0"/>
                </a:moveTo>
                <a:lnTo>
                  <a:pt x="1652092" y="0"/>
                </a:lnTo>
                <a:lnTo>
                  <a:pt x="1652092" y="2127694"/>
                </a:lnTo>
                <a:lnTo>
                  <a:pt x="0" y="21276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7693353" y="7738404"/>
            <a:ext cx="2901293" cy="1313495"/>
          </a:xfrm>
          <a:custGeom>
            <a:avLst/>
            <a:gdLst/>
            <a:ahLst/>
            <a:cxnLst/>
            <a:rect r="r" b="b" t="t" l="l"/>
            <a:pathLst>
              <a:path h="1313495" w="2901293">
                <a:moveTo>
                  <a:pt x="0" y="0"/>
                </a:moveTo>
                <a:lnTo>
                  <a:pt x="2901294" y="0"/>
                </a:lnTo>
                <a:lnTo>
                  <a:pt x="2901294" y="1313494"/>
                </a:lnTo>
                <a:lnTo>
                  <a:pt x="0" y="131349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832971" y="6908618"/>
            <a:ext cx="2352433" cy="2352433"/>
          </a:xfrm>
          <a:custGeom>
            <a:avLst/>
            <a:gdLst/>
            <a:ahLst/>
            <a:cxnLst/>
            <a:rect r="r" b="b" t="t" l="l"/>
            <a:pathLst>
              <a:path h="2352433" w="2352433">
                <a:moveTo>
                  <a:pt x="0" y="0"/>
                </a:moveTo>
                <a:lnTo>
                  <a:pt x="2352433" y="0"/>
                </a:lnTo>
                <a:lnTo>
                  <a:pt x="2352433" y="2352433"/>
                </a:lnTo>
                <a:lnTo>
                  <a:pt x="0" y="235243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3680144" y="3015806"/>
            <a:ext cx="1762305" cy="1762305"/>
          </a:xfrm>
          <a:custGeom>
            <a:avLst/>
            <a:gdLst/>
            <a:ahLst/>
            <a:cxnLst/>
            <a:rect r="r" b="b" t="t" l="l"/>
            <a:pathLst>
              <a:path h="1762305" w="1762305">
                <a:moveTo>
                  <a:pt x="0" y="0"/>
                </a:moveTo>
                <a:lnTo>
                  <a:pt x="1762305" y="0"/>
                </a:lnTo>
                <a:lnTo>
                  <a:pt x="1762305" y="1762305"/>
                </a:lnTo>
                <a:lnTo>
                  <a:pt x="0" y="176230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5259565" y="2563099"/>
            <a:ext cx="1124166" cy="2470695"/>
          </a:xfrm>
          <a:custGeom>
            <a:avLst/>
            <a:gdLst/>
            <a:ahLst/>
            <a:cxnLst/>
            <a:rect r="r" b="b" t="t" l="l"/>
            <a:pathLst>
              <a:path h="2470695" w="1124166">
                <a:moveTo>
                  <a:pt x="0" y="0"/>
                </a:moveTo>
                <a:lnTo>
                  <a:pt x="1124166" y="0"/>
                </a:lnTo>
                <a:lnTo>
                  <a:pt x="1124166" y="2470694"/>
                </a:lnTo>
                <a:lnTo>
                  <a:pt x="0" y="2470694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6608036" y="3213421"/>
            <a:ext cx="1517275" cy="1564689"/>
          </a:xfrm>
          <a:custGeom>
            <a:avLst/>
            <a:gdLst/>
            <a:ahLst/>
            <a:cxnLst/>
            <a:rect r="r" b="b" t="t" l="l"/>
            <a:pathLst>
              <a:path h="1564689" w="1517275">
                <a:moveTo>
                  <a:pt x="0" y="0"/>
                </a:moveTo>
                <a:lnTo>
                  <a:pt x="1517275" y="0"/>
                </a:lnTo>
                <a:lnTo>
                  <a:pt x="1517275" y="1564690"/>
                </a:lnTo>
                <a:lnTo>
                  <a:pt x="0" y="156469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5751236" y="7526222"/>
            <a:ext cx="1508064" cy="2191210"/>
          </a:xfrm>
          <a:custGeom>
            <a:avLst/>
            <a:gdLst/>
            <a:ahLst/>
            <a:cxnLst/>
            <a:rect r="r" b="b" t="t" l="l"/>
            <a:pathLst>
              <a:path h="2191210" w="1508064">
                <a:moveTo>
                  <a:pt x="0" y="0"/>
                </a:moveTo>
                <a:lnTo>
                  <a:pt x="1508064" y="0"/>
                </a:lnTo>
                <a:lnTo>
                  <a:pt x="1508064" y="2191209"/>
                </a:lnTo>
                <a:lnTo>
                  <a:pt x="0" y="219120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-46106" t="-10081" r="-27528" b="-9419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2247523" y="1219200"/>
            <a:ext cx="13792954" cy="10972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159"/>
              </a:lnSpc>
            </a:pPr>
            <a:r>
              <a:rPr lang="en-US" sz="8499" spc="-696">
                <a:solidFill>
                  <a:srgbClr val="3A855D"/>
                </a:solidFill>
                <a:latin typeface="Public Sans"/>
                <a:ea typeface="Public Sans"/>
                <a:cs typeface="Public Sans"/>
                <a:sym typeface="Public Sans"/>
              </a:rPr>
              <a:t>Tech stack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20077" y="5353050"/>
            <a:ext cx="3579156" cy="531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39"/>
              </a:lnSpc>
            </a:pPr>
            <a:r>
              <a:rPr lang="en-US" sz="3999" spc="-327">
                <a:solidFill>
                  <a:srgbClr val="3A855D"/>
                </a:solidFill>
                <a:latin typeface="Public Sans"/>
                <a:ea typeface="Public Sans"/>
                <a:cs typeface="Public Sans"/>
                <a:sym typeface="Public Sans"/>
              </a:rPr>
              <a:t>Frontend - NextJs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354422" y="5353050"/>
            <a:ext cx="3579156" cy="531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39"/>
              </a:lnSpc>
            </a:pPr>
            <a:r>
              <a:rPr lang="en-US" sz="3999" spc="-327">
                <a:solidFill>
                  <a:srgbClr val="3A855D"/>
                </a:solidFill>
                <a:latin typeface="Public Sans"/>
                <a:ea typeface="Public Sans"/>
                <a:cs typeface="Public Sans"/>
                <a:sym typeface="Public Sans"/>
              </a:rPr>
              <a:t>Backend - HonoJs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5037561" y="9489784"/>
            <a:ext cx="8642583" cy="739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39"/>
              </a:lnSpc>
            </a:pPr>
            <a:r>
              <a:rPr lang="en-US" sz="3999" spc="-327">
                <a:solidFill>
                  <a:srgbClr val="3A855D"/>
                </a:solidFill>
                <a:latin typeface="Public Sans"/>
                <a:ea typeface="Public Sans"/>
                <a:cs typeface="Public Sans"/>
                <a:sym typeface="Public Sans"/>
              </a:rPr>
              <a:t>CDN / Deployments / Security - Cloudflare</a:t>
            </a:r>
          </a:p>
          <a:p>
            <a:pPr algn="ctr">
              <a:lnSpc>
                <a:spcPts val="1920"/>
              </a:lnSpc>
            </a:pPr>
            <a:r>
              <a:rPr lang="en-US" sz="2000" spc="-164">
                <a:solidFill>
                  <a:srgbClr val="3A855D"/>
                </a:solidFill>
                <a:latin typeface="Public Sans"/>
                <a:ea typeface="Public Sans"/>
                <a:cs typeface="Public Sans"/>
                <a:sym typeface="Public Sans"/>
              </a:rPr>
              <a:t>(or multi-cloud)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3813809" y="5357643"/>
            <a:ext cx="4453336" cy="15030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39"/>
              </a:lnSpc>
            </a:pPr>
            <a:r>
              <a:rPr lang="en-US" sz="3999" spc="-327">
                <a:solidFill>
                  <a:srgbClr val="3A855D"/>
                </a:solidFill>
                <a:latin typeface="Public Sans"/>
                <a:ea typeface="Public Sans"/>
                <a:cs typeface="Public Sans"/>
                <a:sym typeface="Public Sans"/>
              </a:rPr>
              <a:t>Database - MongoDB / Pinecone / PostgresQL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426132" y="9337251"/>
            <a:ext cx="3579156" cy="531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39"/>
              </a:lnSpc>
            </a:pPr>
            <a:r>
              <a:rPr lang="en-US" sz="3999" spc="-327">
                <a:solidFill>
                  <a:srgbClr val="3A855D"/>
                </a:solidFill>
                <a:latin typeface="Public Sans"/>
                <a:ea typeface="Public Sans"/>
                <a:cs typeface="Public Sans"/>
                <a:sym typeface="Public Sans"/>
              </a:rPr>
              <a:t>AI- Gemini / Groq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4546154" y="9489784"/>
            <a:ext cx="3579156" cy="531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39"/>
              </a:lnSpc>
            </a:pPr>
            <a:r>
              <a:rPr lang="en-US" sz="3999" spc="-327">
                <a:solidFill>
                  <a:srgbClr val="3A855D"/>
                </a:solidFill>
                <a:latin typeface="Public Sans"/>
                <a:ea typeface="Public Sans"/>
                <a:cs typeface="Public Sans"/>
                <a:sym typeface="Public Sans"/>
              </a:rPr>
              <a:t>Design -  Figma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1F1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432511" y="2714202"/>
            <a:ext cx="13686185" cy="4858596"/>
          </a:xfrm>
          <a:custGeom>
            <a:avLst/>
            <a:gdLst/>
            <a:ahLst/>
            <a:cxnLst/>
            <a:rect r="r" b="b" t="t" l="l"/>
            <a:pathLst>
              <a:path h="4858596" w="13686185">
                <a:moveTo>
                  <a:pt x="0" y="0"/>
                </a:moveTo>
                <a:lnTo>
                  <a:pt x="13686185" y="0"/>
                </a:lnTo>
                <a:lnTo>
                  <a:pt x="13686185" y="4858596"/>
                </a:lnTo>
                <a:lnTo>
                  <a:pt x="0" y="48585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247523" y="1219200"/>
            <a:ext cx="13792954" cy="10972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159"/>
              </a:lnSpc>
            </a:pPr>
            <a:r>
              <a:rPr lang="en-US" sz="8499" spc="-696">
                <a:solidFill>
                  <a:srgbClr val="3A855D"/>
                </a:solidFill>
                <a:latin typeface="Public Sans"/>
                <a:ea typeface="Public Sans"/>
                <a:cs typeface="Public Sans"/>
                <a:sym typeface="Public Sans"/>
              </a:rPr>
              <a:t>Competitive Analysis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60304" y="8543925"/>
            <a:ext cx="16230600" cy="1266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100"/>
              </a:lnSpc>
            </a:pPr>
            <a:r>
              <a:rPr lang="en-US" b="true" sz="3000" spc="179">
                <a:solidFill>
                  <a:srgbClr val="006F53"/>
                </a:solidFill>
                <a:latin typeface="Public Sans Medium"/>
                <a:ea typeface="Public Sans Medium"/>
                <a:cs typeface="Public Sans Medium"/>
                <a:sym typeface="Public Sans Medium"/>
              </a:rPr>
              <a:t>Finasaan will be Pakistan’s first : fully digital, fully personalized, research and learning platform.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1F1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964720" y="2316479"/>
            <a:ext cx="13075757" cy="5982159"/>
          </a:xfrm>
          <a:custGeom>
            <a:avLst/>
            <a:gdLst/>
            <a:ahLst/>
            <a:cxnLst/>
            <a:rect r="r" b="b" t="t" l="l"/>
            <a:pathLst>
              <a:path h="5982159" w="13075757">
                <a:moveTo>
                  <a:pt x="0" y="0"/>
                </a:moveTo>
                <a:lnTo>
                  <a:pt x="13075757" y="0"/>
                </a:lnTo>
                <a:lnTo>
                  <a:pt x="13075757" y="5982159"/>
                </a:lnTo>
                <a:lnTo>
                  <a:pt x="0" y="598215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247523" y="1219200"/>
            <a:ext cx="13792954" cy="10972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159"/>
              </a:lnSpc>
            </a:pPr>
            <a:r>
              <a:rPr lang="en-US" sz="8499" spc="-696">
                <a:solidFill>
                  <a:srgbClr val="3A855D"/>
                </a:solidFill>
                <a:latin typeface="Public Sans"/>
                <a:ea typeface="Public Sans"/>
                <a:cs typeface="Public Sans"/>
                <a:sym typeface="Public Sans"/>
              </a:rPr>
              <a:t>Implementation Timeline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60304" y="8543925"/>
            <a:ext cx="16230600" cy="619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100"/>
              </a:lnSpc>
            </a:pPr>
            <a:r>
              <a:rPr lang="en-US" b="true" sz="3000" spc="179">
                <a:solidFill>
                  <a:srgbClr val="006F53"/>
                </a:solidFill>
                <a:latin typeface="Public Sans Medium"/>
                <a:ea typeface="Public Sans Medium"/>
                <a:cs typeface="Public Sans Medium"/>
                <a:sym typeface="Public Sans Medium"/>
              </a:rPr>
              <a:t>Starting from July - 2025 till May 2026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>
  <p:cSld>
    <p:bg>
      <p:bgPr>
        <a:solidFill>
          <a:srgbClr val="F1F1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465074" y="1219200"/>
            <a:ext cx="11357852" cy="10972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159"/>
              </a:lnSpc>
            </a:pPr>
            <a:r>
              <a:rPr lang="en-US" sz="8499" spc="-696">
                <a:solidFill>
                  <a:srgbClr val="3A855D"/>
                </a:solidFill>
                <a:latin typeface="Public Sans"/>
                <a:ea typeface="Public Sans"/>
                <a:cs typeface="Public Sans"/>
                <a:sym typeface="Public Sans"/>
              </a:rPr>
              <a:t>Team: Work Division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496682" y="4090873"/>
            <a:ext cx="3936783" cy="4986938"/>
            <a:chOff x="0" y="0"/>
            <a:chExt cx="1102601" cy="1396725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102601" cy="1396725"/>
            </a:xfrm>
            <a:custGeom>
              <a:avLst/>
              <a:gdLst/>
              <a:ahLst/>
              <a:cxnLst/>
              <a:rect r="r" b="b" t="t" l="l"/>
              <a:pathLst>
                <a:path h="1396725" w="1102601">
                  <a:moveTo>
                    <a:pt x="29498" y="0"/>
                  </a:moveTo>
                  <a:lnTo>
                    <a:pt x="1073102" y="0"/>
                  </a:lnTo>
                  <a:cubicBezTo>
                    <a:pt x="1080926" y="0"/>
                    <a:pt x="1088429" y="3108"/>
                    <a:pt x="1093961" y="8640"/>
                  </a:cubicBezTo>
                  <a:cubicBezTo>
                    <a:pt x="1099493" y="14172"/>
                    <a:pt x="1102601" y="21675"/>
                    <a:pt x="1102601" y="29498"/>
                  </a:cubicBezTo>
                  <a:lnTo>
                    <a:pt x="1102601" y="1367226"/>
                  </a:lnTo>
                  <a:cubicBezTo>
                    <a:pt x="1102601" y="1383518"/>
                    <a:pt x="1089394" y="1396725"/>
                    <a:pt x="1073102" y="1396725"/>
                  </a:cubicBezTo>
                  <a:lnTo>
                    <a:pt x="29498" y="1396725"/>
                  </a:lnTo>
                  <a:cubicBezTo>
                    <a:pt x="13207" y="1396725"/>
                    <a:pt x="0" y="1383518"/>
                    <a:pt x="0" y="1367226"/>
                  </a:cubicBezTo>
                  <a:lnTo>
                    <a:pt x="0" y="29498"/>
                  </a:lnTo>
                  <a:cubicBezTo>
                    <a:pt x="0" y="13207"/>
                    <a:pt x="13207" y="0"/>
                    <a:pt x="29498" y="0"/>
                  </a:cubicBezTo>
                  <a:close/>
                </a:path>
              </a:pathLst>
            </a:custGeom>
            <a:solidFill>
              <a:srgbClr val="006F53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85725"/>
              <a:ext cx="1102601" cy="13110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25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66691" y="4628859"/>
            <a:ext cx="2596765" cy="657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00"/>
              </a:lnSpc>
            </a:pPr>
            <a:r>
              <a:rPr lang="en-US" b="true" sz="5000" spc="-410">
                <a:solidFill>
                  <a:srgbClr val="F1F0E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Hadi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747195" y="5889599"/>
            <a:ext cx="3435758" cy="1543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050"/>
              </a:lnSpc>
              <a:spcBef>
                <a:spcPct val="0"/>
              </a:spcBef>
            </a:pPr>
            <a:r>
              <a:rPr lang="en-US" sz="3000" spc="179">
                <a:solidFill>
                  <a:srgbClr val="F1F0EC"/>
                </a:solidFill>
                <a:latin typeface="Public Sans"/>
                <a:ea typeface="Public Sans"/>
                <a:cs typeface="Public Sans"/>
                <a:sym typeface="Public Sans"/>
              </a:rPr>
              <a:t>Full stack development and DevOps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7175609" y="4090873"/>
            <a:ext cx="3936783" cy="4986938"/>
            <a:chOff x="0" y="0"/>
            <a:chExt cx="1102601" cy="139672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02601" cy="1396725"/>
            </a:xfrm>
            <a:custGeom>
              <a:avLst/>
              <a:gdLst/>
              <a:ahLst/>
              <a:cxnLst/>
              <a:rect r="r" b="b" t="t" l="l"/>
              <a:pathLst>
                <a:path h="1396725" w="1102601">
                  <a:moveTo>
                    <a:pt x="29498" y="0"/>
                  </a:moveTo>
                  <a:lnTo>
                    <a:pt x="1073102" y="0"/>
                  </a:lnTo>
                  <a:cubicBezTo>
                    <a:pt x="1080926" y="0"/>
                    <a:pt x="1088429" y="3108"/>
                    <a:pt x="1093961" y="8640"/>
                  </a:cubicBezTo>
                  <a:cubicBezTo>
                    <a:pt x="1099493" y="14172"/>
                    <a:pt x="1102601" y="21675"/>
                    <a:pt x="1102601" y="29498"/>
                  </a:cubicBezTo>
                  <a:lnTo>
                    <a:pt x="1102601" y="1367226"/>
                  </a:lnTo>
                  <a:cubicBezTo>
                    <a:pt x="1102601" y="1383518"/>
                    <a:pt x="1089394" y="1396725"/>
                    <a:pt x="1073102" y="1396725"/>
                  </a:cubicBezTo>
                  <a:lnTo>
                    <a:pt x="29498" y="1396725"/>
                  </a:lnTo>
                  <a:cubicBezTo>
                    <a:pt x="13207" y="1396725"/>
                    <a:pt x="0" y="1383518"/>
                    <a:pt x="0" y="1367226"/>
                  </a:cubicBezTo>
                  <a:lnTo>
                    <a:pt x="0" y="29498"/>
                  </a:lnTo>
                  <a:cubicBezTo>
                    <a:pt x="0" y="13207"/>
                    <a:pt x="13207" y="0"/>
                    <a:pt x="29498" y="0"/>
                  </a:cubicBezTo>
                  <a:close/>
                </a:path>
              </a:pathLst>
            </a:custGeom>
            <a:solidFill>
              <a:srgbClr val="006F5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85725"/>
              <a:ext cx="1102601" cy="13110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25"/>
                </a:lnSpc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7426121" y="4628859"/>
            <a:ext cx="3539926" cy="657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00"/>
              </a:lnSpc>
            </a:pPr>
            <a:r>
              <a:rPr lang="en-US" b="true" sz="5000" spc="-410">
                <a:solidFill>
                  <a:srgbClr val="F1F0E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Muzammil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426121" y="5889599"/>
            <a:ext cx="3435758" cy="1543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050"/>
              </a:lnSpc>
              <a:spcBef>
                <a:spcPct val="0"/>
              </a:spcBef>
            </a:pPr>
            <a:r>
              <a:rPr lang="en-US" sz="3000" spc="179">
                <a:solidFill>
                  <a:srgbClr val="F1F0EC"/>
                </a:solidFill>
                <a:latin typeface="Public Sans"/>
                <a:ea typeface="Public Sans"/>
                <a:cs typeface="Public Sans"/>
                <a:sym typeface="Public Sans"/>
              </a:rPr>
              <a:t>Fullstack development of core application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12854535" y="4090873"/>
            <a:ext cx="3936783" cy="4986938"/>
            <a:chOff x="0" y="0"/>
            <a:chExt cx="1102601" cy="139672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102601" cy="1396725"/>
            </a:xfrm>
            <a:custGeom>
              <a:avLst/>
              <a:gdLst/>
              <a:ahLst/>
              <a:cxnLst/>
              <a:rect r="r" b="b" t="t" l="l"/>
              <a:pathLst>
                <a:path h="1396725" w="1102601">
                  <a:moveTo>
                    <a:pt x="29498" y="0"/>
                  </a:moveTo>
                  <a:lnTo>
                    <a:pt x="1073102" y="0"/>
                  </a:lnTo>
                  <a:cubicBezTo>
                    <a:pt x="1080926" y="0"/>
                    <a:pt x="1088429" y="3108"/>
                    <a:pt x="1093961" y="8640"/>
                  </a:cubicBezTo>
                  <a:cubicBezTo>
                    <a:pt x="1099493" y="14172"/>
                    <a:pt x="1102601" y="21675"/>
                    <a:pt x="1102601" y="29498"/>
                  </a:cubicBezTo>
                  <a:lnTo>
                    <a:pt x="1102601" y="1367226"/>
                  </a:lnTo>
                  <a:cubicBezTo>
                    <a:pt x="1102601" y="1383518"/>
                    <a:pt x="1089394" y="1396725"/>
                    <a:pt x="1073102" y="1396725"/>
                  </a:cubicBezTo>
                  <a:lnTo>
                    <a:pt x="29498" y="1396725"/>
                  </a:lnTo>
                  <a:cubicBezTo>
                    <a:pt x="13207" y="1396725"/>
                    <a:pt x="0" y="1383518"/>
                    <a:pt x="0" y="1367226"/>
                  </a:cubicBezTo>
                  <a:lnTo>
                    <a:pt x="0" y="29498"/>
                  </a:lnTo>
                  <a:cubicBezTo>
                    <a:pt x="0" y="13207"/>
                    <a:pt x="13207" y="0"/>
                    <a:pt x="29498" y="0"/>
                  </a:cubicBezTo>
                  <a:close/>
                </a:path>
              </a:pathLst>
            </a:custGeom>
            <a:solidFill>
              <a:srgbClr val="006F53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85725"/>
              <a:ext cx="1102601" cy="13110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25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13105047" y="4628859"/>
            <a:ext cx="3539926" cy="657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00"/>
              </a:lnSpc>
            </a:pPr>
            <a:r>
              <a:rPr lang="en-US" b="true" sz="5000" spc="-410">
                <a:solidFill>
                  <a:srgbClr val="F1F0E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Aman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3105047" y="5889599"/>
            <a:ext cx="3435758" cy="2057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050"/>
              </a:lnSpc>
              <a:spcBef>
                <a:spcPct val="0"/>
              </a:spcBef>
            </a:pPr>
            <a:r>
              <a:rPr lang="en-US" sz="3000" spc="179">
                <a:solidFill>
                  <a:srgbClr val="F1F0EC"/>
                </a:solidFill>
                <a:latin typeface="Public Sans"/>
                <a:ea typeface="Public Sans"/>
                <a:cs typeface="Public Sans"/>
                <a:sym typeface="Public Sans"/>
              </a:rPr>
              <a:t>Lead UI/UX designer, frontend developer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1F1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61239" y="1705023"/>
            <a:ext cx="6998061" cy="864326"/>
            <a:chOff x="0" y="0"/>
            <a:chExt cx="2342659" cy="2893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42659" cy="289340"/>
            </a:xfrm>
            <a:custGeom>
              <a:avLst/>
              <a:gdLst/>
              <a:ahLst/>
              <a:cxnLst/>
              <a:rect r="r" b="b" t="t" l="l"/>
              <a:pathLst>
                <a:path h="289340" w="2342659">
                  <a:moveTo>
                    <a:pt x="16594" y="0"/>
                  </a:moveTo>
                  <a:lnTo>
                    <a:pt x="2326064" y="0"/>
                  </a:lnTo>
                  <a:cubicBezTo>
                    <a:pt x="2335229" y="0"/>
                    <a:pt x="2342659" y="7430"/>
                    <a:pt x="2342659" y="16594"/>
                  </a:cubicBezTo>
                  <a:lnTo>
                    <a:pt x="2342659" y="272746"/>
                  </a:lnTo>
                  <a:cubicBezTo>
                    <a:pt x="2342659" y="281911"/>
                    <a:pt x="2335229" y="289340"/>
                    <a:pt x="2326064" y="289340"/>
                  </a:cubicBezTo>
                  <a:lnTo>
                    <a:pt x="16594" y="289340"/>
                  </a:lnTo>
                  <a:cubicBezTo>
                    <a:pt x="7430" y="289340"/>
                    <a:pt x="0" y="281911"/>
                    <a:pt x="0" y="272746"/>
                  </a:cubicBezTo>
                  <a:lnTo>
                    <a:pt x="0" y="16594"/>
                  </a:lnTo>
                  <a:cubicBezTo>
                    <a:pt x="0" y="7430"/>
                    <a:pt x="7430" y="0"/>
                    <a:pt x="16594" y="0"/>
                  </a:cubicBezTo>
                  <a:close/>
                </a:path>
              </a:pathLst>
            </a:custGeom>
            <a:solidFill>
              <a:srgbClr val="006F53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85725"/>
              <a:ext cx="2342659" cy="2036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25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0261239" y="3398024"/>
            <a:ext cx="6998061" cy="1369151"/>
            <a:chOff x="0" y="0"/>
            <a:chExt cx="2342659" cy="45833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342659" cy="458335"/>
            </a:xfrm>
            <a:custGeom>
              <a:avLst/>
              <a:gdLst/>
              <a:ahLst/>
              <a:cxnLst/>
              <a:rect r="r" b="b" t="t" l="l"/>
              <a:pathLst>
                <a:path h="458335" w="2342659">
                  <a:moveTo>
                    <a:pt x="16594" y="0"/>
                  </a:moveTo>
                  <a:lnTo>
                    <a:pt x="2326064" y="0"/>
                  </a:lnTo>
                  <a:cubicBezTo>
                    <a:pt x="2335229" y="0"/>
                    <a:pt x="2342659" y="7430"/>
                    <a:pt x="2342659" y="16594"/>
                  </a:cubicBezTo>
                  <a:lnTo>
                    <a:pt x="2342659" y="441740"/>
                  </a:lnTo>
                  <a:cubicBezTo>
                    <a:pt x="2342659" y="450905"/>
                    <a:pt x="2335229" y="458335"/>
                    <a:pt x="2326064" y="458335"/>
                  </a:cubicBezTo>
                  <a:lnTo>
                    <a:pt x="16594" y="458335"/>
                  </a:lnTo>
                  <a:cubicBezTo>
                    <a:pt x="7430" y="458335"/>
                    <a:pt x="0" y="450905"/>
                    <a:pt x="0" y="441740"/>
                  </a:cubicBezTo>
                  <a:lnTo>
                    <a:pt x="0" y="16594"/>
                  </a:lnTo>
                  <a:cubicBezTo>
                    <a:pt x="0" y="7430"/>
                    <a:pt x="7430" y="0"/>
                    <a:pt x="16594" y="0"/>
                  </a:cubicBezTo>
                  <a:close/>
                </a:path>
              </a:pathLst>
            </a:custGeom>
            <a:solidFill>
              <a:srgbClr val="006F53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85725"/>
              <a:ext cx="2342659" cy="37261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25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0261239" y="7334040"/>
            <a:ext cx="6998061" cy="928273"/>
            <a:chOff x="0" y="0"/>
            <a:chExt cx="2342659" cy="31074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342659" cy="310747"/>
            </a:xfrm>
            <a:custGeom>
              <a:avLst/>
              <a:gdLst/>
              <a:ahLst/>
              <a:cxnLst/>
              <a:rect r="r" b="b" t="t" l="l"/>
              <a:pathLst>
                <a:path h="310747" w="2342659">
                  <a:moveTo>
                    <a:pt x="16594" y="0"/>
                  </a:moveTo>
                  <a:lnTo>
                    <a:pt x="2326064" y="0"/>
                  </a:lnTo>
                  <a:cubicBezTo>
                    <a:pt x="2335229" y="0"/>
                    <a:pt x="2342659" y="7430"/>
                    <a:pt x="2342659" y="16594"/>
                  </a:cubicBezTo>
                  <a:lnTo>
                    <a:pt x="2342659" y="294153"/>
                  </a:lnTo>
                  <a:cubicBezTo>
                    <a:pt x="2342659" y="303318"/>
                    <a:pt x="2335229" y="310747"/>
                    <a:pt x="2326064" y="310747"/>
                  </a:cubicBezTo>
                  <a:lnTo>
                    <a:pt x="16594" y="310747"/>
                  </a:lnTo>
                  <a:cubicBezTo>
                    <a:pt x="7430" y="310747"/>
                    <a:pt x="0" y="303318"/>
                    <a:pt x="0" y="294153"/>
                  </a:cubicBezTo>
                  <a:lnTo>
                    <a:pt x="0" y="16594"/>
                  </a:lnTo>
                  <a:cubicBezTo>
                    <a:pt x="0" y="7430"/>
                    <a:pt x="7430" y="0"/>
                    <a:pt x="16594" y="0"/>
                  </a:cubicBezTo>
                  <a:close/>
                </a:path>
              </a:pathLst>
            </a:custGeom>
            <a:solidFill>
              <a:srgbClr val="006F5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85725"/>
              <a:ext cx="2342659" cy="22502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25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0252500" y="5208766"/>
            <a:ext cx="6998061" cy="1296600"/>
            <a:chOff x="0" y="0"/>
            <a:chExt cx="2342659" cy="434047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342659" cy="434047"/>
            </a:xfrm>
            <a:custGeom>
              <a:avLst/>
              <a:gdLst/>
              <a:ahLst/>
              <a:cxnLst/>
              <a:rect r="r" b="b" t="t" l="l"/>
              <a:pathLst>
                <a:path h="434047" w="2342659">
                  <a:moveTo>
                    <a:pt x="16594" y="0"/>
                  </a:moveTo>
                  <a:lnTo>
                    <a:pt x="2326064" y="0"/>
                  </a:lnTo>
                  <a:cubicBezTo>
                    <a:pt x="2335229" y="0"/>
                    <a:pt x="2342659" y="7430"/>
                    <a:pt x="2342659" y="16594"/>
                  </a:cubicBezTo>
                  <a:lnTo>
                    <a:pt x="2342659" y="417453"/>
                  </a:lnTo>
                  <a:cubicBezTo>
                    <a:pt x="2342659" y="426618"/>
                    <a:pt x="2335229" y="434047"/>
                    <a:pt x="2326064" y="434047"/>
                  </a:cubicBezTo>
                  <a:lnTo>
                    <a:pt x="16594" y="434047"/>
                  </a:lnTo>
                  <a:cubicBezTo>
                    <a:pt x="7430" y="434047"/>
                    <a:pt x="0" y="426618"/>
                    <a:pt x="0" y="417453"/>
                  </a:cubicBezTo>
                  <a:lnTo>
                    <a:pt x="0" y="16594"/>
                  </a:lnTo>
                  <a:cubicBezTo>
                    <a:pt x="0" y="7430"/>
                    <a:pt x="7430" y="0"/>
                    <a:pt x="16594" y="0"/>
                  </a:cubicBezTo>
                  <a:close/>
                </a:path>
              </a:pathLst>
            </a:custGeom>
            <a:solidFill>
              <a:srgbClr val="006F53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85725"/>
              <a:ext cx="2342659" cy="34832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25"/>
                </a:lnSpc>
              </a:pP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0">
            <a:off x="3246880" y="6052134"/>
            <a:ext cx="3845477" cy="3206166"/>
          </a:xfrm>
          <a:custGeom>
            <a:avLst/>
            <a:gdLst/>
            <a:ahLst/>
            <a:cxnLst/>
            <a:rect r="r" b="b" t="t" l="l"/>
            <a:pathLst>
              <a:path h="3206166" w="3845477">
                <a:moveTo>
                  <a:pt x="0" y="0"/>
                </a:moveTo>
                <a:lnTo>
                  <a:pt x="3845477" y="0"/>
                </a:lnTo>
                <a:lnTo>
                  <a:pt x="3845477" y="3206166"/>
                </a:lnTo>
                <a:lnTo>
                  <a:pt x="0" y="32061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1409700" y="2430284"/>
            <a:ext cx="8229159" cy="10972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159"/>
              </a:lnSpc>
            </a:pPr>
            <a:r>
              <a:rPr lang="en-US" sz="8499" spc="-696">
                <a:solidFill>
                  <a:srgbClr val="3A855D"/>
                </a:solidFill>
                <a:latin typeface="Public Sans"/>
                <a:ea typeface="Public Sans"/>
                <a:cs typeface="Public Sans"/>
                <a:sym typeface="Public Sans"/>
              </a:rPr>
              <a:t>UN SDGs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409700" y="4694416"/>
            <a:ext cx="7519837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050"/>
              </a:lnSpc>
              <a:spcBef>
                <a:spcPct val="0"/>
              </a:spcBef>
            </a:pPr>
            <a:r>
              <a:rPr lang="en-US" sz="3000" spc="179">
                <a:solidFill>
                  <a:srgbClr val="3A855D"/>
                </a:solidFill>
                <a:latin typeface="Public Sans"/>
                <a:ea typeface="Public Sans"/>
                <a:cs typeface="Public Sans"/>
                <a:sym typeface="Public Sans"/>
              </a:rPr>
              <a:t>Finasaan is built to empower people.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0767897" y="1842378"/>
            <a:ext cx="6316691" cy="531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39"/>
              </a:lnSpc>
            </a:pPr>
            <a:r>
              <a:rPr lang="en-US" sz="3999" spc="-327">
                <a:solidFill>
                  <a:srgbClr val="F1F0EC"/>
                </a:solidFill>
                <a:latin typeface="Public Sans"/>
                <a:ea typeface="Public Sans"/>
                <a:cs typeface="Public Sans"/>
                <a:sym typeface="Public Sans"/>
              </a:rPr>
              <a:t>SDG 4: Quality Education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0767897" y="3535379"/>
            <a:ext cx="6316691" cy="1017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39"/>
              </a:lnSpc>
            </a:pPr>
            <a:r>
              <a:rPr lang="en-US" sz="3999" spc="-327">
                <a:solidFill>
                  <a:srgbClr val="F1F0EC"/>
                </a:solidFill>
                <a:latin typeface="Public Sans"/>
                <a:ea typeface="Public Sans"/>
                <a:cs typeface="Public Sans"/>
                <a:sym typeface="Public Sans"/>
              </a:rPr>
              <a:t>SDG 8: Economic growth via financial inclusion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0767897" y="7471395"/>
            <a:ext cx="6316691" cy="531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39"/>
              </a:lnSpc>
            </a:pPr>
            <a:r>
              <a:rPr lang="en-US" sz="3999" spc="-327">
                <a:solidFill>
                  <a:srgbClr val="F1F0EC"/>
                </a:solidFill>
                <a:latin typeface="Public Sans"/>
                <a:ea typeface="Public Sans"/>
                <a:cs typeface="Public Sans"/>
                <a:sym typeface="Public Sans"/>
              </a:rPr>
              <a:t>SDG 10: Reduced Inequalities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0759159" y="5346120"/>
            <a:ext cx="6316691" cy="1017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39"/>
              </a:lnSpc>
            </a:pPr>
            <a:r>
              <a:rPr lang="en-US" sz="3999" spc="-327">
                <a:solidFill>
                  <a:srgbClr val="F1F0EC"/>
                </a:solidFill>
                <a:latin typeface="Public Sans"/>
                <a:ea typeface="Public Sans"/>
                <a:cs typeface="Public Sans"/>
                <a:sym typeface="Public Sans"/>
              </a:rPr>
              <a:t>SDG 9: Industry, innovation and infrastructure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1F1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809468" y="2601621"/>
            <a:ext cx="14669063" cy="7114496"/>
          </a:xfrm>
          <a:custGeom>
            <a:avLst/>
            <a:gdLst/>
            <a:ahLst/>
            <a:cxnLst/>
            <a:rect r="r" b="b" t="t" l="l"/>
            <a:pathLst>
              <a:path h="7114496" w="14669063">
                <a:moveTo>
                  <a:pt x="0" y="0"/>
                </a:moveTo>
                <a:lnTo>
                  <a:pt x="14669064" y="0"/>
                </a:lnTo>
                <a:lnTo>
                  <a:pt x="14669064" y="7114496"/>
                </a:lnTo>
                <a:lnTo>
                  <a:pt x="0" y="71144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247523" y="1219200"/>
            <a:ext cx="13792954" cy="10972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159"/>
              </a:lnSpc>
            </a:pPr>
            <a:r>
              <a:rPr lang="en-US" sz="8499" spc="-696">
                <a:solidFill>
                  <a:srgbClr val="3A855D"/>
                </a:solidFill>
                <a:latin typeface="Public Sans"/>
                <a:ea typeface="Public Sans"/>
                <a:cs typeface="Public Sans"/>
                <a:sym typeface="Public Sans"/>
              </a:rPr>
              <a:t>Design-first appraoch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1F1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733924" y="6971250"/>
            <a:ext cx="21755848" cy="4174349"/>
            <a:chOff x="0" y="0"/>
            <a:chExt cx="7796805" cy="149599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796805" cy="1495993"/>
            </a:xfrm>
            <a:custGeom>
              <a:avLst/>
              <a:gdLst/>
              <a:ahLst/>
              <a:cxnLst/>
              <a:rect r="r" b="b" t="t" l="l"/>
              <a:pathLst>
                <a:path h="1495993" w="7796805">
                  <a:moveTo>
                    <a:pt x="0" y="0"/>
                  </a:moveTo>
                  <a:lnTo>
                    <a:pt x="7796805" y="0"/>
                  </a:lnTo>
                  <a:lnTo>
                    <a:pt x="7796805" y="1495993"/>
                  </a:lnTo>
                  <a:lnTo>
                    <a:pt x="0" y="1495993"/>
                  </a:lnTo>
                  <a:close/>
                </a:path>
              </a:pathLst>
            </a:custGeom>
            <a:solidFill>
              <a:srgbClr val="006F53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28575"/>
              <a:ext cx="7796805" cy="152456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-908245" y="5376693"/>
            <a:ext cx="20104489" cy="5523017"/>
          </a:xfrm>
          <a:custGeom>
            <a:avLst/>
            <a:gdLst/>
            <a:ahLst/>
            <a:cxnLst/>
            <a:rect r="r" b="b" t="t" l="l"/>
            <a:pathLst>
              <a:path h="5523017" w="20104489">
                <a:moveTo>
                  <a:pt x="0" y="0"/>
                </a:moveTo>
                <a:lnTo>
                  <a:pt x="20104490" y="0"/>
                </a:lnTo>
                <a:lnTo>
                  <a:pt x="20104490" y="5523017"/>
                </a:lnTo>
                <a:lnTo>
                  <a:pt x="0" y="552301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44363" r="-9035" b="-20568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3597139" y="1892358"/>
            <a:ext cx="11093721" cy="19451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883"/>
              </a:lnSpc>
            </a:pPr>
            <a:r>
              <a:rPr lang="en-US" sz="15957" spc="-1308">
                <a:solidFill>
                  <a:srgbClr val="3A855D"/>
                </a:solidFill>
                <a:latin typeface="Public Sans"/>
                <a:ea typeface="Public Sans"/>
                <a:cs typeface="Public Sans"/>
                <a:sym typeface="Public Sans"/>
              </a:rPr>
              <a:t>Thank you.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16914402" y="3224371"/>
            <a:ext cx="1703043" cy="2771224"/>
          </a:xfrm>
          <a:custGeom>
            <a:avLst/>
            <a:gdLst/>
            <a:ahLst/>
            <a:cxnLst/>
            <a:rect r="r" b="b" t="t" l="l"/>
            <a:pathLst>
              <a:path h="2771224" w="1703043">
                <a:moveTo>
                  <a:pt x="0" y="0"/>
                </a:moveTo>
                <a:lnTo>
                  <a:pt x="1703043" y="0"/>
                </a:lnTo>
                <a:lnTo>
                  <a:pt x="1703043" y="2771224"/>
                </a:lnTo>
                <a:lnTo>
                  <a:pt x="0" y="277122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7392287">
            <a:off x="-1104276" y="-395603"/>
            <a:ext cx="3383874" cy="2848607"/>
          </a:xfrm>
          <a:custGeom>
            <a:avLst/>
            <a:gdLst/>
            <a:ahLst/>
            <a:cxnLst/>
            <a:rect r="r" b="b" t="t" l="l"/>
            <a:pathLst>
              <a:path h="2848607" w="3383874">
                <a:moveTo>
                  <a:pt x="0" y="0"/>
                </a:moveTo>
                <a:lnTo>
                  <a:pt x="3383875" y="0"/>
                </a:lnTo>
                <a:lnTo>
                  <a:pt x="3383875" y="2848606"/>
                </a:lnTo>
                <a:lnTo>
                  <a:pt x="0" y="284860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DAGybKSUjlc</dc:identifier>
  <dcterms:modified xsi:type="dcterms:W3CDTF">2011-08-01T06:04:30Z</dcterms:modified>
  <cp:revision>1</cp:revision>
  <dc:title>Finasaan - Proposal Defense</dc:title>
</cp:coreProperties>
</file>